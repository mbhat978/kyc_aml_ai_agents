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3" r:id="rId5"/>
    <p:sldId id="265" r:id="rId6"/>
    <p:sldId id="259" r:id="rId7"/>
    <p:sldId id="260" r:id="rId8"/>
    <p:sldId id="261" r:id="rId9"/>
    <p:sldId id="262" r:id="rId10"/>
    <p:sldId id="264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B3E138-830D-4330-B663-77CBED0152BE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7BBC2C2-3FA8-4DA3-ABA1-04EA98DC2FEC}">
      <dgm:prSet custT="1"/>
      <dgm:spPr/>
      <dgm:t>
        <a:bodyPr/>
        <a:lstStyle/>
        <a:p>
          <a:r>
            <a:rPr lang="en-US" sz="1050" dirty="0" err="1"/>
            <a:t>StateGraph</a:t>
          </a:r>
          <a:r>
            <a:rPr lang="en-US" sz="1050" dirty="0"/>
            <a:t> Implementation - </a:t>
          </a:r>
          <a:r>
            <a:rPr lang="en-US" sz="1050" dirty="0" err="1"/>
            <a:t>LangGraph</a:t>
          </a:r>
          <a:r>
            <a:rPr lang="en-US" sz="1050" dirty="0"/>
            <a:t> orchestration</a:t>
          </a:r>
        </a:p>
      </dgm:t>
    </dgm:pt>
    <dgm:pt modelId="{1164A058-7230-4F0F-BB8F-36E8DF0B71B9}" type="parTrans" cxnId="{17E0E9BB-12C9-454D-ADA0-7A7B1C2E6F04}">
      <dgm:prSet/>
      <dgm:spPr/>
      <dgm:t>
        <a:bodyPr/>
        <a:lstStyle/>
        <a:p>
          <a:endParaRPr lang="en-US"/>
        </a:p>
      </dgm:t>
    </dgm:pt>
    <dgm:pt modelId="{DAA77B82-BA9F-4C0A-AAD1-3D27DEC31C5C}" type="sibTrans" cxnId="{17E0E9BB-12C9-454D-ADA0-7A7B1C2E6F04}">
      <dgm:prSet/>
      <dgm:spPr/>
      <dgm:t>
        <a:bodyPr/>
        <a:lstStyle/>
        <a:p>
          <a:endParaRPr lang="en-US"/>
        </a:p>
      </dgm:t>
    </dgm:pt>
    <dgm:pt modelId="{1A357C49-B088-450B-B4EB-B9B64D2306DB}">
      <dgm:prSet custT="1"/>
      <dgm:spPr/>
      <dgm:t>
        <a:bodyPr/>
        <a:lstStyle/>
        <a:p>
          <a:r>
            <a:rPr lang="en-US" sz="1050" dirty="0"/>
            <a:t>Real-time Agent Live Feed - Server-Sent Events (SSE)</a:t>
          </a:r>
        </a:p>
      </dgm:t>
    </dgm:pt>
    <dgm:pt modelId="{16054462-8A12-45E7-A191-7C87FBAB0E4A}" type="parTrans" cxnId="{87956E2D-3A17-409A-8E75-7017686C5A10}">
      <dgm:prSet/>
      <dgm:spPr/>
      <dgm:t>
        <a:bodyPr/>
        <a:lstStyle/>
        <a:p>
          <a:endParaRPr lang="en-US"/>
        </a:p>
      </dgm:t>
    </dgm:pt>
    <dgm:pt modelId="{0E43325D-4CA9-4725-80BA-BC0DF1BB5920}" type="sibTrans" cxnId="{87956E2D-3A17-409A-8E75-7017686C5A10}">
      <dgm:prSet/>
      <dgm:spPr/>
      <dgm:t>
        <a:bodyPr/>
        <a:lstStyle/>
        <a:p>
          <a:endParaRPr lang="en-US"/>
        </a:p>
      </dgm:t>
    </dgm:pt>
    <dgm:pt modelId="{23888D39-C5BC-429D-8FDF-0E7FFC9B4AE5}">
      <dgm:prSet custT="1"/>
      <dgm:spPr/>
      <dgm:t>
        <a:bodyPr/>
        <a:lstStyle/>
        <a:p>
          <a:r>
            <a:rPr lang="en-US" sz="1050" dirty="0"/>
            <a:t>OCR Capabilities - PDF and image document processing</a:t>
          </a:r>
        </a:p>
      </dgm:t>
    </dgm:pt>
    <dgm:pt modelId="{DFE23034-2D04-4FD0-950D-6E826F3504FC}" type="parTrans" cxnId="{82CA16E9-1E93-45F9-BFDA-A2A9B79FB9F5}">
      <dgm:prSet/>
      <dgm:spPr/>
      <dgm:t>
        <a:bodyPr/>
        <a:lstStyle/>
        <a:p>
          <a:endParaRPr lang="en-US"/>
        </a:p>
      </dgm:t>
    </dgm:pt>
    <dgm:pt modelId="{821D619E-D521-4696-8B40-F5EB2058CF07}" type="sibTrans" cxnId="{82CA16E9-1E93-45F9-BFDA-A2A9B79FB9F5}">
      <dgm:prSet/>
      <dgm:spPr/>
      <dgm:t>
        <a:bodyPr/>
        <a:lstStyle/>
        <a:p>
          <a:endParaRPr lang="en-US"/>
        </a:p>
      </dgm:t>
    </dgm:pt>
    <dgm:pt modelId="{09B67961-5F12-4F26-A69A-7CBCFA36EE15}">
      <dgm:prSet custT="1"/>
      <dgm:spPr/>
      <dgm:t>
        <a:bodyPr/>
        <a:lstStyle/>
        <a:p>
          <a:r>
            <a:rPr lang="en-US" sz="1050" dirty="0"/>
            <a:t>Enhanced Due Diligence - Transaction monitoring &amp; AML</a:t>
          </a:r>
        </a:p>
      </dgm:t>
    </dgm:pt>
    <dgm:pt modelId="{B4744EA5-0405-47CB-BCC2-F893B4E4B4CB}" type="parTrans" cxnId="{9F824237-373E-403E-8C5A-8C558FA4E5B0}">
      <dgm:prSet/>
      <dgm:spPr/>
      <dgm:t>
        <a:bodyPr/>
        <a:lstStyle/>
        <a:p>
          <a:endParaRPr lang="en-US"/>
        </a:p>
      </dgm:t>
    </dgm:pt>
    <dgm:pt modelId="{EAB10805-48CC-478E-9D11-D5C489381666}" type="sibTrans" cxnId="{9F824237-373E-403E-8C5A-8C558FA4E5B0}">
      <dgm:prSet/>
      <dgm:spPr/>
      <dgm:t>
        <a:bodyPr/>
        <a:lstStyle/>
        <a:p>
          <a:endParaRPr lang="en-US"/>
        </a:p>
      </dgm:t>
    </dgm:pt>
    <dgm:pt modelId="{C4E6F830-0CBD-40CA-AB0B-92452E583A68}">
      <dgm:prSet custT="1"/>
      <dgm:spPr/>
      <dgm:t>
        <a:bodyPr/>
        <a:lstStyle/>
        <a:p>
          <a:r>
            <a:rPr lang="en-US" sz="1050" dirty="0"/>
            <a:t>Cyclic Reasoning - Agents loop back for re-verification</a:t>
          </a:r>
        </a:p>
      </dgm:t>
    </dgm:pt>
    <dgm:pt modelId="{3EBB16AC-DCC0-46E6-BCC0-B01D357001E2}" type="parTrans" cxnId="{BA3A9265-F295-4539-B769-BB461E8A21B7}">
      <dgm:prSet/>
      <dgm:spPr/>
      <dgm:t>
        <a:bodyPr/>
        <a:lstStyle/>
        <a:p>
          <a:endParaRPr lang="en-US"/>
        </a:p>
      </dgm:t>
    </dgm:pt>
    <dgm:pt modelId="{F8B3C542-0A99-4933-BCB8-882DE3937A1C}" type="sibTrans" cxnId="{BA3A9265-F295-4539-B769-BB461E8A21B7}">
      <dgm:prSet/>
      <dgm:spPr/>
      <dgm:t>
        <a:bodyPr/>
        <a:lstStyle/>
        <a:p>
          <a:endParaRPr lang="en-US"/>
        </a:p>
      </dgm:t>
    </dgm:pt>
    <dgm:pt modelId="{30C5174C-7A15-4ACF-BACE-4D20220EF039}">
      <dgm:prSet custT="1"/>
      <dgm:spPr/>
      <dgm:t>
        <a:bodyPr/>
        <a:lstStyle/>
        <a:p>
          <a:r>
            <a:rPr lang="en-US" sz="1050" dirty="0"/>
            <a:t>Intelligent Conflict Resolution - Handles typos, variations</a:t>
          </a:r>
        </a:p>
      </dgm:t>
    </dgm:pt>
    <dgm:pt modelId="{7D425280-0762-4DB0-B1B6-ADCFA4D0F128}" type="parTrans" cxnId="{ADDE988A-B6AC-4A30-8934-8AA4719673AB}">
      <dgm:prSet/>
      <dgm:spPr/>
      <dgm:t>
        <a:bodyPr/>
        <a:lstStyle/>
        <a:p>
          <a:endParaRPr lang="en-US"/>
        </a:p>
      </dgm:t>
    </dgm:pt>
    <dgm:pt modelId="{F2CBD26E-A8C0-451A-870C-984AE4A9791E}" type="sibTrans" cxnId="{ADDE988A-B6AC-4A30-8934-8AA4719673AB}">
      <dgm:prSet/>
      <dgm:spPr/>
      <dgm:t>
        <a:bodyPr/>
        <a:lstStyle/>
        <a:p>
          <a:endParaRPr lang="en-US"/>
        </a:p>
      </dgm:t>
    </dgm:pt>
    <dgm:pt modelId="{88229FED-6E77-49C5-B925-10AD3218F04E}">
      <dgm:prSet custT="1"/>
      <dgm:spPr/>
      <dgm:t>
        <a:bodyPr/>
        <a:lstStyle/>
        <a:p>
          <a:r>
            <a:rPr lang="en-US" sz="1050" dirty="0"/>
            <a:t>Explainable AI - Complete audit trail for every decision</a:t>
          </a:r>
        </a:p>
      </dgm:t>
    </dgm:pt>
    <dgm:pt modelId="{B24D0604-0348-416D-99DD-25B6CD56FBA1}" type="parTrans" cxnId="{6720AA9B-6E01-4A35-9FF6-8E73ACE0B4F8}">
      <dgm:prSet/>
      <dgm:spPr/>
      <dgm:t>
        <a:bodyPr/>
        <a:lstStyle/>
        <a:p>
          <a:endParaRPr lang="en-US"/>
        </a:p>
      </dgm:t>
    </dgm:pt>
    <dgm:pt modelId="{0DD75B47-FAA2-4B57-AFDC-159A7633C5B4}" type="sibTrans" cxnId="{6720AA9B-6E01-4A35-9FF6-8E73ACE0B4F8}">
      <dgm:prSet/>
      <dgm:spPr/>
      <dgm:t>
        <a:bodyPr/>
        <a:lstStyle/>
        <a:p>
          <a:endParaRPr lang="en-US"/>
        </a:p>
      </dgm:t>
    </dgm:pt>
    <dgm:pt modelId="{D5B8A934-7C53-41ED-A5D8-53EE5B6BC120}">
      <dgm:prSet custT="1"/>
      <dgm:spPr/>
      <dgm:t>
        <a:bodyPr/>
        <a:lstStyle/>
        <a:p>
          <a:r>
            <a:rPr lang="en-US" sz="1050" dirty="0"/>
            <a:t>Dynamic Risk Scoring - Context-aware 1-10 scale</a:t>
          </a:r>
        </a:p>
      </dgm:t>
    </dgm:pt>
    <dgm:pt modelId="{343D6585-66FF-4399-ABD5-A94E75A6B0F9}" type="parTrans" cxnId="{784651AD-209E-418C-8277-08FB87D6A5AD}">
      <dgm:prSet/>
      <dgm:spPr/>
      <dgm:t>
        <a:bodyPr/>
        <a:lstStyle/>
        <a:p>
          <a:endParaRPr lang="en-US"/>
        </a:p>
      </dgm:t>
    </dgm:pt>
    <dgm:pt modelId="{A4DCC1F8-E409-48FB-9D0E-DA9024784214}" type="sibTrans" cxnId="{784651AD-209E-418C-8277-08FB87D6A5AD}">
      <dgm:prSet/>
      <dgm:spPr/>
      <dgm:t>
        <a:bodyPr/>
        <a:lstStyle/>
        <a:p>
          <a:endParaRPr lang="en-US"/>
        </a:p>
      </dgm:t>
    </dgm:pt>
    <dgm:pt modelId="{E42126F2-918B-4C52-8CF2-F2FB6E1D783E}">
      <dgm:prSet custT="1"/>
      <dgm:spPr/>
      <dgm:t>
        <a:bodyPr/>
        <a:lstStyle/>
        <a:p>
          <a:r>
            <a:rPr lang="en-US" sz="1050" dirty="0"/>
            <a:t>Human-in-the-Loop - Automated with escalation paths</a:t>
          </a:r>
        </a:p>
      </dgm:t>
    </dgm:pt>
    <dgm:pt modelId="{C3B3F5B1-9BB6-4392-BCEC-BCE4C86C161C}" type="parTrans" cxnId="{DE5BD05C-3A9D-4CCE-A838-43B722D9188E}">
      <dgm:prSet/>
      <dgm:spPr/>
      <dgm:t>
        <a:bodyPr/>
        <a:lstStyle/>
        <a:p>
          <a:endParaRPr lang="en-US"/>
        </a:p>
      </dgm:t>
    </dgm:pt>
    <dgm:pt modelId="{ADA14363-A960-47E1-AB31-F3CB87D78A06}" type="sibTrans" cxnId="{DE5BD05C-3A9D-4CCE-A838-43B722D9188E}">
      <dgm:prSet/>
      <dgm:spPr/>
      <dgm:t>
        <a:bodyPr/>
        <a:lstStyle/>
        <a:p>
          <a:endParaRPr lang="en-US"/>
        </a:p>
      </dgm:t>
    </dgm:pt>
    <dgm:pt modelId="{559140CE-C5B5-4036-BF25-CA90FA18AA08}" type="pres">
      <dgm:prSet presAssocID="{14B3E138-830D-4330-B663-77CBED0152BE}" presName="cycle" presStyleCnt="0">
        <dgm:presLayoutVars>
          <dgm:dir/>
          <dgm:resizeHandles val="exact"/>
        </dgm:presLayoutVars>
      </dgm:prSet>
      <dgm:spPr/>
    </dgm:pt>
    <dgm:pt modelId="{8FDDF585-FE57-4870-BAAB-FF34162B1F97}" type="pres">
      <dgm:prSet presAssocID="{F7BBC2C2-3FA8-4DA3-ABA1-04EA98DC2FEC}" presName="node" presStyleLbl="node1" presStyleIdx="0" presStyleCnt="9">
        <dgm:presLayoutVars>
          <dgm:bulletEnabled val="1"/>
        </dgm:presLayoutVars>
      </dgm:prSet>
      <dgm:spPr/>
    </dgm:pt>
    <dgm:pt modelId="{7DB3A2B6-CF32-4594-94A3-61341639C29A}" type="pres">
      <dgm:prSet presAssocID="{DAA77B82-BA9F-4C0A-AAD1-3D27DEC31C5C}" presName="sibTrans" presStyleLbl="sibTrans2D1" presStyleIdx="0" presStyleCnt="9"/>
      <dgm:spPr/>
    </dgm:pt>
    <dgm:pt modelId="{3CE6B727-D0E6-4C5E-8BC5-1C06D8E48945}" type="pres">
      <dgm:prSet presAssocID="{DAA77B82-BA9F-4C0A-AAD1-3D27DEC31C5C}" presName="connectorText" presStyleLbl="sibTrans2D1" presStyleIdx="0" presStyleCnt="9"/>
      <dgm:spPr/>
    </dgm:pt>
    <dgm:pt modelId="{84F6484E-3086-4A26-8BF6-C96C1155FF10}" type="pres">
      <dgm:prSet presAssocID="{1A357C49-B088-450B-B4EB-B9B64D2306DB}" presName="node" presStyleLbl="node1" presStyleIdx="1" presStyleCnt="9">
        <dgm:presLayoutVars>
          <dgm:bulletEnabled val="1"/>
        </dgm:presLayoutVars>
      </dgm:prSet>
      <dgm:spPr/>
    </dgm:pt>
    <dgm:pt modelId="{A30E16AF-CDA8-4F09-861D-C0E09A29C98C}" type="pres">
      <dgm:prSet presAssocID="{0E43325D-4CA9-4725-80BA-BC0DF1BB5920}" presName="sibTrans" presStyleLbl="sibTrans2D1" presStyleIdx="1" presStyleCnt="9"/>
      <dgm:spPr/>
    </dgm:pt>
    <dgm:pt modelId="{11FCB420-DFEC-4710-9DF2-14DA8C1CAFE1}" type="pres">
      <dgm:prSet presAssocID="{0E43325D-4CA9-4725-80BA-BC0DF1BB5920}" presName="connectorText" presStyleLbl="sibTrans2D1" presStyleIdx="1" presStyleCnt="9"/>
      <dgm:spPr/>
    </dgm:pt>
    <dgm:pt modelId="{C42B2A26-3738-489A-9BB2-8CB195BA13D1}" type="pres">
      <dgm:prSet presAssocID="{23888D39-C5BC-429D-8FDF-0E7FFC9B4AE5}" presName="node" presStyleLbl="node1" presStyleIdx="2" presStyleCnt="9">
        <dgm:presLayoutVars>
          <dgm:bulletEnabled val="1"/>
        </dgm:presLayoutVars>
      </dgm:prSet>
      <dgm:spPr/>
    </dgm:pt>
    <dgm:pt modelId="{012EE29C-8F49-4494-AF84-9D3F6AB528F6}" type="pres">
      <dgm:prSet presAssocID="{821D619E-D521-4696-8B40-F5EB2058CF07}" presName="sibTrans" presStyleLbl="sibTrans2D1" presStyleIdx="2" presStyleCnt="9"/>
      <dgm:spPr/>
    </dgm:pt>
    <dgm:pt modelId="{0F5F55CF-9500-4671-A7CA-4216833FF262}" type="pres">
      <dgm:prSet presAssocID="{821D619E-D521-4696-8B40-F5EB2058CF07}" presName="connectorText" presStyleLbl="sibTrans2D1" presStyleIdx="2" presStyleCnt="9"/>
      <dgm:spPr/>
    </dgm:pt>
    <dgm:pt modelId="{0CC7C643-11AF-40CE-803C-8F1092A2D489}" type="pres">
      <dgm:prSet presAssocID="{09B67961-5F12-4F26-A69A-7CBCFA36EE15}" presName="node" presStyleLbl="node1" presStyleIdx="3" presStyleCnt="9">
        <dgm:presLayoutVars>
          <dgm:bulletEnabled val="1"/>
        </dgm:presLayoutVars>
      </dgm:prSet>
      <dgm:spPr/>
    </dgm:pt>
    <dgm:pt modelId="{DA3AC76D-6C7B-4820-A48F-1C3694D70878}" type="pres">
      <dgm:prSet presAssocID="{EAB10805-48CC-478E-9D11-D5C489381666}" presName="sibTrans" presStyleLbl="sibTrans2D1" presStyleIdx="3" presStyleCnt="9"/>
      <dgm:spPr/>
    </dgm:pt>
    <dgm:pt modelId="{1B968A44-75EB-40B4-B435-CB2AC32271B2}" type="pres">
      <dgm:prSet presAssocID="{EAB10805-48CC-478E-9D11-D5C489381666}" presName="connectorText" presStyleLbl="sibTrans2D1" presStyleIdx="3" presStyleCnt="9"/>
      <dgm:spPr/>
    </dgm:pt>
    <dgm:pt modelId="{9A45F13D-5DCA-406B-8C49-F086B41644CF}" type="pres">
      <dgm:prSet presAssocID="{C4E6F830-0CBD-40CA-AB0B-92452E583A68}" presName="node" presStyleLbl="node1" presStyleIdx="4" presStyleCnt="9">
        <dgm:presLayoutVars>
          <dgm:bulletEnabled val="1"/>
        </dgm:presLayoutVars>
      </dgm:prSet>
      <dgm:spPr/>
    </dgm:pt>
    <dgm:pt modelId="{8458BBF1-2DB1-4060-9451-64596A2AB356}" type="pres">
      <dgm:prSet presAssocID="{F8B3C542-0A99-4933-BCB8-882DE3937A1C}" presName="sibTrans" presStyleLbl="sibTrans2D1" presStyleIdx="4" presStyleCnt="9"/>
      <dgm:spPr/>
    </dgm:pt>
    <dgm:pt modelId="{79DBCAC6-BAF7-4C03-B1A1-A2A375CEB513}" type="pres">
      <dgm:prSet presAssocID="{F8B3C542-0A99-4933-BCB8-882DE3937A1C}" presName="connectorText" presStyleLbl="sibTrans2D1" presStyleIdx="4" presStyleCnt="9"/>
      <dgm:spPr/>
    </dgm:pt>
    <dgm:pt modelId="{428FA88F-428D-48A1-B1E7-470C891F7A9B}" type="pres">
      <dgm:prSet presAssocID="{30C5174C-7A15-4ACF-BACE-4D20220EF039}" presName="node" presStyleLbl="node1" presStyleIdx="5" presStyleCnt="9">
        <dgm:presLayoutVars>
          <dgm:bulletEnabled val="1"/>
        </dgm:presLayoutVars>
      </dgm:prSet>
      <dgm:spPr/>
    </dgm:pt>
    <dgm:pt modelId="{E34B45E5-542A-475B-BF05-21DE79A5DCCA}" type="pres">
      <dgm:prSet presAssocID="{F2CBD26E-A8C0-451A-870C-984AE4A9791E}" presName="sibTrans" presStyleLbl="sibTrans2D1" presStyleIdx="5" presStyleCnt="9"/>
      <dgm:spPr/>
    </dgm:pt>
    <dgm:pt modelId="{7856B379-9BC1-4C8E-ABF0-2DD36FD82F5B}" type="pres">
      <dgm:prSet presAssocID="{F2CBD26E-A8C0-451A-870C-984AE4A9791E}" presName="connectorText" presStyleLbl="sibTrans2D1" presStyleIdx="5" presStyleCnt="9"/>
      <dgm:spPr/>
    </dgm:pt>
    <dgm:pt modelId="{FFCA8954-DA02-4063-84C1-35313DD1862A}" type="pres">
      <dgm:prSet presAssocID="{88229FED-6E77-49C5-B925-10AD3218F04E}" presName="node" presStyleLbl="node1" presStyleIdx="6" presStyleCnt="9">
        <dgm:presLayoutVars>
          <dgm:bulletEnabled val="1"/>
        </dgm:presLayoutVars>
      </dgm:prSet>
      <dgm:spPr/>
    </dgm:pt>
    <dgm:pt modelId="{CBF11FAF-E87C-445B-B8FB-6FEEE32AF5A7}" type="pres">
      <dgm:prSet presAssocID="{0DD75B47-FAA2-4B57-AFDC-159A7633C5B4}" presName="sibTrans" presStyleLbl="sibTrans2D1" presStyleIdx="6" presStyleCnt="9"/>
      <dgm:spPr/>
    </dgm:pt>
    <dgm:pt modelId="{DC9005E2-C295-40D1-8895-28654FE8E510}" type="pres">
      <dgm:prSet presAssocID="{0DD75B47-FAA2-4B57-AFDC-159A7633C5B4}" presName="connectorText" presStyleLbl="sibTrans2D1" presStyleIdx="6" presStyleCnt="9"/>
      <dgm:spPr/>
    </dgm:pt>
    <dgm:pt modelId="{8D87F117-87EF-4CB5-B284-49BA45822CCB}" type="pres">
      <dgm:prSet presAssocID="{D5B8A934-7C53-41ED-A5D8-53EE5B6BC120}" presName="node" presStyleLbl="node1" presStyleIdx="7" presStyleCnt="9">
        <dgm:presLayoutVars>
          <dgm:bulletEnabled val="1"/>
        </dgm:presLayoutVars>
      </dgm:prSet>
      <dgm:spPr/>
    </dgm:pt>
    <dgm:pt modelId="{B3AF0DFC-BBDD-4E9B-AECD-722B9BABF80D}" type="pres">
      <dgm:prSet presAssocID="{A4DCC1F8-E409-48FB-9D0E-DA9024784214}" presName="sibTrans" presStyleLbl="sibTrans2D1" presStyleIdx="7" presStyleCnt="9"/>
      <dgm:spPr/>
    </dgm:pt>
    <dgm:pt modelId="{6F1C462E-5AB3-4BD5-B69B-C61B39829C09}" type="pres">
      <dgm:prSet presAssocID="{A4DCC1F8-E409-48FB-9D0E-DA9024784214}" presName="connectorText" presStyleLbl="sibTrans2D1" presStyleIdx="7" presStyleCnt="9"/>
      <dgm:spPr/>
    </dgm:pt>
    <dgm:pt modelId="{773C5330-D990-4741-B615-DACF561DFC10}" type="pres">
      <dgm:prSet presAssocID="{E42126F2-918B-4C52-8CF2-F2FB6E1D783E}" presName="node" presStyleLbl="node1" presStyleIdx="8" presStyleCnt="9">
        <dgm:presLayoutVars>
          <dgm:bulletEnabled val="1"/>
        </dgm:presLayoutVars>
      </dgm:prSet>
      <dgm:spPr/>
    </dgm:pt>
    <dgm:pt modelId="{C0DCB7B6-76E4-414A-98EF-066BB65058D5}" type="pres">
      <dgm:prSet presAssocID="{ADA14363-A960-47E1-AB31-F3CB87D78A06}" presName="sibTrans" presStyleLbl="sibTrans2D1" presStyleIdx="8" presStyleCnt="9"/>
      <dgm:spPr/>
    </dgm:pt>
    <dgm:pt modelId="{2C9D35DD-4ACA-49B6-9957-4AD691864392}" type="pres">
      <dgm:prSet presAssocID="{ADA14363-A960-47E1-AB31-F3CB87D78A06}" presName="connectorText" presStyleLbl="sibTrans2D1" presStyleIdx="8" presStyleCnt="9"/>
      <dgm:spPr/>
    </dgm:pt>
  </dgm:ptLst>
  <dgm:cxnLst>
    <dgm:cxn modelId="{4039310B-6197-4F1E-BF67-4C7F3F3F4278}" type="presOf" srcId="{F2CBD26E-A8C0-451A-870C-984AE4A9791E}" destId="{E34B45E5-542A-475B-BF05-21DE79A5DCCA}" srcOrd="0" destOrd="0" presId="urn:microsoft.com/office/officeart/2005/8/layout/cycle2"/>
    <dgm:cxn modelId="{1B4DBE15-7FF4-4EA7-8432-C4FA92A246BF}" type="presOf" srcId="{821D619E-D521-4696-8B40-F5EB2058CF07}" destId="{012EE29C-8F49-4494-AF84-9D3F6AB528F6}" srcOrd="0" destOrd="0" presId="urn:microsoft.com/office/officeart/2005/8/layout/cycle2"/>
    <dgm:cxn modelId="{D9678826-554E-440C-86FF-F33DE8D3C862}" type="presOf" srcId="{F2CBD26E-A8C0-451A-870C-984AE4A9791E}" destId="{7856B379-9BC1-4C8E-ABF0-2DD36FD82F5B}" srcOrd="1" destOrd="0" presId="urn:microsoft.com/office/officeart/2005/8/layout/cycle2"/>
    <dgm:cxn modelId="{B457AE2B-D963-48DD-A430-7045830834CD}" type="presOf" srcId="{14B3E138-830D-4330-B663-77CBED0152BE}" destId="{559140CE-C5B5-4036-BF25-CA90FA18AA08}" srcOrd="0" destOrd="0" presId="urn:microsoft.com/office/officeart/2005/8/layout/cycle2"/>
    <dgm:cxn modelId="{0D82082D-9EB7-4296-A43D-83119F1E071B}" type="presOf" srcId="{C4E6F830-0CBD-40CA-AB0B-92452E583A68}" destId="{9A45F13D-5DCA-406B-8C49-F086B41644CF}" srcOrd="0" destOrd="0" presId="urn:microsoft.com/office/officeart/2005/8/layout/cycle2"/>
    <dgm:cxn modelId="{87956E2D-3A17-409A-8E75-7017686C5A10}" srcId="{14B3E138-830D-4330-B663-77CBED0152BE}" destId="{1A357C49-B088-450B-B4EB-B9B64D2306DB}" srcOrd="1" destOrd="0" parTransId="{16054462-8A12-45E7-A191-7C87FBAB0E4A}" sibTransId="{0E43325D-4CA9-4725-80BA-BC0DF1BB5920}"/>
    <dgm:cxn modelId="{9F824237-373E-403E-8C5A-8C558FA4E5B0}" srcId="{14B3E138-830D-4330-B663-77CBED0152BE}" destId="{09B67961-5F12-4F26-A69A-7CBCFA36EE15}" srcOrd="3" destOrd="0" parTransId="{B4744EA5-0405-47CB-BCC2-F893B4E4B4CB}" sibTransId="{EAB10805-48CC-478E-9D11-D5C489381666}"/>
    <dgm:cxn modelId="{619F193F-F35E-4494-B987-68D4674E5188}" type="presOf" srcId="{DAA77B82-BA9F-4C0A-AAD1-3D27DEC31C5C}" destId="{7DB3A2B6-CF32-4594-94A3-61341639C29A}" srcOrd="0" destOrd="0" presId="urn:microsoft.com/office/officeart/2005/8/layout/cycle2"/>
    <dgm:cxn modelId="{C897A53F-E240-45A4-8825-B30C01FDA9A7}" type="presOf" srcId="{0DD75B47-FAA2-4B57-AFDC-159A7633C5B4}" destId="{CBF11FAF-E87C-445B-B8FB-6FEEE32AF5A7}" srcOrd="0" destOrd="0" presId="urn:microsoft.com/office/officeart/2005/8/layout/cycle2"/>
    <dgm:cxn modelId="{7D06625C-0520-46DE-BF55-E7A0451ABB94}" type="presOf" srcId="{0E43325D-4CA9-4725-80BA-BC0DF1BB5920}" destId="{11FCB420-DFEC-4710-9DF2-14DA8C1CAFE1}" srcOrd="1" destOrd="0" presId="urn:microsoft.com/office/officeart/2005/8/layout/cycle2"/>
    <dgm:cxn modelId="{DE5BD05C-3A9D-4CCE-A838-43B722D9188E}" srcId="{14B3E138-830D-4330-B663-77CBED0152BE}" destId="{E42126F2-918B-4C52-8CF2-F2FB6E1D783E}" srcOrd="8" destOrd="0" parTransId="{C3B3F5B1-9BB6-4392-BCEC-BCE4C86C161C}" sibTransId="{ADA14363-A960-47E1-AB31-F3CB87D78A06}"/>
    <dgm:cxn modelId="{BF1AE764-04F6-4876-B6F1-069336D333BD}" type="presOf" srcId="{EAB10805-48CC-478E-9D11-D5C489381666}" destId="{1B968A44-75EB-40B4-B435-CB2AC32271B2}" srcOrd="1" destOrd="0" presId="urn:microsoft.com/office/officeart/2005/8/layout/cycle2"/>
    <dgm:cxn modelId="{BA3A9265-F295-4539-B769-BB461E8A21B7}" srcId="{14B3E138-830D-4330-B663-77CBED0152BE}" destId="{C4E6F830-0CBD-40CA-AB0B-92452E583A68}" srcOrd="4" destOrd="0" parTransId="{3EBB16AC-DCC0-46E6-BCC0-B01D357001E2}" sibTransId="{F8B3C542-0A99-4933-BCB8-882DE3937A1C}"/>
    <dgm:cxn modelId="{B1725067-23C1-48D4-B7B7-7F0F48133ADF}" type="presOf" srcId="{DAA77B82-BA9F-4C0A-AAD1-3D27DEC31C5C}" destId="{3CE6B727-D0E6-4C5E-8BC5-1C06D8E48945}" srcOrd="1" destOrd="0" presId="urn:microsoft.com/office/officeart/2005/8/layout/cycle2"/>
    <dgm:cxn modelId="{C6007571-1A57-4005-8F75-6100E7E6D7D1}" type="presOf" srcId="{09B67961-5F12-4F26-A69A-7CBCFA36EE15}" destId="{0CC7C643-11AF-40CE-803C-8F1092A2D489}" srcOrd="0" destOrd="0" presId="urn:microsoft.com/office/officeart/2005/8/layout/cycle2"/>
    <dgm:cxn modelId="{DFED9C53-1BB9-4D7E-BF74-5B3E35F85FEB}" type="presOf" srcId="{F8B3C542-0A99-4933-BCB8-882DE3937A1C}" destId="{8458BBF1-2DB1-4060-9451-64596A2AB356}" srcOrd="0" destOrd="0" presId="urn:microsoft.com/office/officeart/2005/8/layout/cycle2"/>
    <dgm:cxn modelId="{FE5D8454-F198-432A-868D-038392F4663A}" type="presOf" srcId="{0E43325D-4CA9-4725-80BA-BC0DF1BB5920}" destId="{A30E16AF-CDA8-4F09-861D-C0E09A29C98C}" srcOrd="0" destOrd="0" presId="urn:microsoft.com/office/officeart/2005/8/layout/cycle2"/>
    <dgm:cxn modelId="{CB3C9957-34F5-4962-9D7A-E3FECDF6E986}" type="presOf" srcId="{F8B3C542-0A99-4933-BCB8-882DE3937A1C}" destId="{79DBCAC6-BAF7-4C03-B1A1-A2A375CEB513}" srcOrd="1" destOrd="0" presId="urn:microsoft.com/office/officeart/2005/8/layout/cycle2"/>
    <dgm:cxn modelId="{FAFAE75A-48C0-489A-B8CF-1C3B386460C9}" type="presOf" srcId="{88229FED-6E77-49C5-B925-10AD3218F04E}" destId="{FFCA8954-DA02-4063-84C1-35313DD1862A}" srcOrd="0" destOrd="0" presId="urn:microsoft.com/office/officeart/2005/8/layout/cycle2"/>
    <dgm:cxn modelId="{78ED2D88-F1BA-440F-A69D-C772013F4041}" type="presOf" srcId="{ADA14363-A960-47E1-AB31-F3CB87D78A06}" destId="{C0DCB7B6-76E4-414A-98EF-066BB65058D5}" srcOrd="0" destOrd="0" presId="urn:microsoft.com/office/officeart/2005/8/layout/cycle2"/>
    <dgm:cxn modelId="{A8EABC88-93B9-498A-8D83-BCCEACA90911}" type="presOf" srcId="{23888D39-C5BC-429D-8FDF-0E7FFC9B4AE5}" destId="{C42B2A26-3738-489A-9BB2-8CB195BA13D1}" srcOrd="0" destOrd="0" presId="urn:microsoft.com/office/officeart/2005/8/layout/cycle2"/>
    <dgm:cxn modelId="{ADDE988A-B6AC-4A30-8934-8AA4719673AB}" srcId="{14B3E138-830D-4330-B663-77CBED0152BE}" destId="{30C5174C-7A15-4ACF-BACE-4D20220EF039}" srcOrd="5" destOrd="0" parTransId="{7D425280-0762-4DB0-B1B6-ADCFA4D0F128}" sibTransId="{F2CBD26E-A8C0-451A-870C-984AE4A9791E}"/>
    <dgm:cxn modelId="{CA8BE893-640A-4152-AB05-D4A54DE0F12F}" type="presOf" srcId="{EAB10805-48CC-478E-9D11-D5C489381666}" destId="{DA3AC76D-6C7B-4820-A48F-1C3694D70878}" srcOrd="0" destOrd="0" presId="urn:microsoft.com/office/officeart/2005/8/layout/cycle2"/>
    <dgm:cxn modelId="{6720AA9B-6E01-4A35-9FF6-8E73ACE0B4F8}" srcId="{14B3E138-830D-4330-B663-77CBED0152BE}" destId="{88229FED-6E77-49C5-B925-10AD3218F04E}" srcOrd="6" destOrd="0" parTransId="{B24D0604-0348-416D-99DD-25B6CD56FBA1}" sibTransId="{0DD75B47-FAA2-4B57-AFDC-159A7633C5B4}"/>
    <dgm:cxn modelId="{420ECFA2-7092-4B45-8498-3A981986A17C}" type="presOf" srcId="{821D619E-D521-4696-8B40-F5EB2058CF07}" destId="{0F5F55CF-9500-4671-A7CA-4216833FF262}" srcOrd="1" destOrd="0" presId="urn:microsoft.com/office/officeart/2005/8/layout/cycle2"/>
    <dgm:cxn modelId="{3C1767AA-3844-4664-8318-89F2998BE966}" type="presOf" srcId="{D5B8A934-7C53-41ED-A5D8-53EE5B6BC120}" destId="{8D87F117-87EF-4CB5-B284-49BA45822CCB}" srcOrd="0" destOrd="0" presId="urn:microsoft.com/office/officeart/2005/8/layout/cycle2"/>
    <dgm:cxn modelId="{784651AD-209E-418C-8277-08FB87D6A5AD}" srcId="{14B3E138-830D-4330-B663-77CBED0152BE}" destId="{D5B8A934-7C53-41ED-A5D8-53EE5B6BC120}" srcOrd="7" destOrd="0" parTransId="{343D6585-66FF-4399-ABD5-A94E75A6B0F9}" sibTransId="{A4DCC1F8-E409-48FB-9D0E-DA9024784214}"/>
    <dgm:cxn modelId="{17E0E9BB-12C9-454D-ADA0-7A7B1C2E6F04}" srcId="{14B3E138-830D-4330-B663-77CBED0152BE}" destId="{F7BBC2C2-3FA8-4DA3-ABA1-04EA98DC2FEC}" srcOrd="0" destOrd="0" parTransId="{1164A058-7230-4F0F-BB8F-36E8DF0B71B9}" sibTransId="{DAA77B82-BA9F-4C0A-AAD1-3D27DEC31C5C}"/>
    <dgm:cxn modelId="{00E140D8-93E3-4B83-9BE6-04594CCCBC6E}" type="presOf" srcId="{A4DCC1F8-E409-48FB-9D0E-DA9024784214}" destId="{6F1C462E-5AB3-4BD5-B69B-C61B39829C09}" srcOrd="1" destOrd="0" presId="urn:microsoft.com/office/officeart/2005/8/layout/cycle2"/>
    <dgm:cxn modelId="{3D8E0AD9-E13A-4D9F-950A-9ACA722F59DF}" type="presOf" srcId="{A4DCC1F8-E409-48FB-9D0E-DA9024784214}" destId="{B3AF0DFC-BBDD-4E9B-AECD-722B9BABF80D}" srcOrd="0" destOrd="0" presId="urn:microsoft.com/office/officeart/2005/8/layout/cycle2"/>
    <dgm:cxn modelId="{8B129FDE-82DE-43B2-8CEF-FE273B2DE1EC}" type="presOf" srcId="{E42126F2-918B-4C52-8CF2-F2FB6E1D783E}" destId="{773C5330-D990-4741-B615-DACF561DFC10}" srcOrd="0" destOrd="0" presId="urn:microsoft.com/office/officeart/2005/8/layout/cycle2"/>
    <dgm:cxn modelId="{103A39E1-8150-45D0-8110-D635E3937F8F}" type="presOf" srcId="{ADA14363-A960-47E1-AB31-F3CB87D78A06}" destId="{2C9D35DD-4ACA-49B6-9957-4AD691864392}" srcOrd="1" destOrd="0" presId="urn:microsoft.com/office/officeart/2005/8/layout/cycle2"/>
    <dgm:cxn modelId="{922B8CE5-5A16-4DFF-8252-9A86F0705D1E}" type="presOf" srcId="{30C5174C-7A15-4ACF-BACE-4D20220EF039}" destId="{428FA88F-428D-48A1-B1E7-470C891F7A9B}" srcOrd="0" destOrd="0" presId="urn:microsoft.com/office/officeart/2005/8/layout/cycle2"/>
    <dgm:cxn modelId="{AFCDF6E6-9B14-402D-84EB-8611F2AC941A}" type="presOf" srcId="{1A357C49-B088-450B-B4EB-B9B64D2306DB}" destId="{84F6484E-3086-4A26-8BF6-C96C1155FF10}" srcOrd="0" destOrd="0" presId="urn:microsoft.com/office/officeart/2005/8/layout/cycle2"/>
    <dgm:cxn modelId="{82CA16E9-1E93-45F9-BFDA-A2A9B79FB9F5}" srcId="{14B3E138-830D-4330-B663-77CBED0152BE}" destId="{23888D39-C5BC-429D-8FDF-0E7FFC9B4AE5}" srcOrd="2" destOrd="0" parTransId="{DFE23034-2D04-4FD0-950D-6E826F3504FC}" sibTransId="{821D619E-D521-4696-8B40-F5EB2058CF07}"/>
    <dgm:cxn modelId="{ACB335EA-A557-4527-8055-9FE1F3B67E08}" type="presOf" srcId="{F7BBC2C2-3FA8-4DA3-ABA1-04EA98DC2FEC}" destId="{8FDDF585-FE57-4870-BAAB-FF34162B1F97}" srcOrd="0" destOrd="0" presId="urn:microsoft.com/office/officeart/2005/8/layout/cycle2"/>
    <dgm:cxn modelId="{FAB220FF-353C-4550-A835-6095C9381E6B}" type="presOf" srcId="{0DD75B47-FAA2-4B57-AFDC-159A7633C5B4}" destId="{DC9005E2-C295-40D1-8895-28654FE8E510}" srcOrd="1" destOrd="0" presId="urn:microsoft.com/office/officeart/2005/8/layout/cycle2"/>
    <dgm:cxn modelId="{78519A3A-64B9-40B0-B425-E23D0FA98CA9}" type="presParOf" srcId="{559140CE-C5B5-4036-BF25-CA90FA18AA08}" destId="{8FDDF585-FE57-4870-BAAB-FF34162B1F97}" srcOrd="0" destOrd="0" presId="urn:microsoft.com/office/officeart/2005/8/layout/cycle2"/>
    <dgm:cxn modelId="{7E421048-624B-4A55-B4C0-F88B13CC0088}" type="presParOf" srcId="{559140CE-C5B5-4036-BF25-CA90FA18AA08}" destId="{7DB3A2B6-CF32-4594-94A3-61341639C29A}" srcOrd="1" destOrd="0" presId="urn:microsoft.com/office/officeart/2005/8/layout/cycle2"/>
    <dgm:cxn modelId="{1FEA569F-466D-49DD-8FB8-5E010271CCDA}" type="presParOf" srcId="{7DB3A2B6-CF32-4594-94A3-61341639C29A}" destId="{3CE6B727-D0E6-4C5E-8BC5-1C06D8E48945}" srcOrd="0" destOrd="0" presId="urn:microsoft.com/office/officeart/2005/8/layout/cycle2"/>
    <dgm:cxn modelId="{024364D5-D158-4E34-90E9-93F1B0837E39}" type="presParOf" srcId="{559140CE-C5B5-4036-BF25-CA90FA18AA08}" destId="{84F6484E-3086-4A26-8BF6-C96C1155FF10}" srcOrd="2" destOrd="0" presId="urn:microsoft.com/office/officeart/2005/8/layout/cycle2"/>
    <dgm:cxn modelId="{1433F392-B9BF-464E-9030-75176618F810}" type="presParOf" srcId="{559140CE-C5B5-4036-BF25-CA90FA18AA08}" destId="{A30E16AF-CDA8-4F09-861D-C0E09A29C98C}" srcOrd="3" destOrd="0" presId="urn:microsoft.com/office/officeart/2005/8/layout/cycle2"/>
    <dgm:cxn modelId="{219254F5-CECC-41DD-8A23-7D686BC463DD}" type="presParOf" srcId="{A30E16AF-CDA8-4F09-861D-C0E09A29C98C}" destId="{11FCB420-DFEC-4710-9DF2-14DA8C1CAFE1}" srcOrd="0" destOrd="0" presId="urn:microsoft.com/office/officeart/2005/8/layout/cycle2"/>
    <dgm:cxn modelId="{F5BEBC30-0373-4F62-AAB6-B16088DDCB3B}" type="presParOf" srcId="{559140CE-C5B5-4036-BF25-CA90FA18AA08}" destId="{C42B2A26-3738-489A-9BB2-8CB195BA13D1}" srcOrd="4" destOrd="0" presId="urn:microsoft.com/office/officeart/2005/8/layout/cycle2"/>
    <dgm:cxn modelId="{774C00D4-4303-49E2-9329-96FD938DED6D}" type="presParOf" srcId="{559140CE-C5B5-4036-BF25-CA90FA18AA08}" destId="{012EE29C-8F49-4494-AF84-9D3F6AB528F6}" srcOrd="5" destOrd="0" presId="urn:microsoft.com/office/officeart/2005/8/layout/cycle2"/>
    <dgm:cxn modelId="{67798605-9BA4-4EE1-BCB2-70A610B5D915}" type="presParOf" srcId="{012EE29C-8F49-4494-AF84-9D3F6AB528F6}" destId="{0F5F55CF-9500-4671-A7CA-4216833FF262}" srcOrd="0" destOrd="0" presId="urn:microsoft.com/office/officeart/2005/8/layout/cycle2"/>
    <dgm:cxn modelId="{B798BB5E-75AA-4E3B-BA13-8ED4ED2DB824}" type="presParOf" srcId="{559140CE-C5B5-4036-BF25-CA90FA18AA08}" destId="{0CC7C643-11AF-40CE-803C-8F1092A2D489}" srcOrd="6" destOrd="0" presId="urn:microsoft.com/office/officeart/2005/8/layout/cycle2"/>
    <dgm:cxn modelId="{C28CB785-A8D3-495B-9224-907B67BBAC58}" type="presParOf" srcId="{559140CE-C5B5-4036-BF25-CA90FA18AA08}" destId="{DA3AC76D-6C7B-4820-A48F-1C3694D70878}" srcOrd="7" destOrd="0" presId="urn:microsoft.com/office/officeart/2005/8/layout/cycle2"/>
    <dgm:cxn modelId="{A72DAF5D-4D39-440A-864B-127E59AB9772}" type="presParOf" srcId="{DA3AC76D-6C7B-4820-A48F-1C3694D70878}" destId="{1B968A44-75EB-40B4-B435-CB2AC32271B2}" srcOrd="0" destOrd="0" presId="urn:microsoft.com/office/officeart/2005/8/layout/cycle2"/>
    <dgm:cxn modelId="{C747A5EE-98AB-482D-8396-7351EC640DFB}" type="presParOf" srcId="{559140CE-C5B5-4036-BF25-CA90FA18AA08}" destId="{9A45F13D-5DCA-406B-8C49-F086B41644CF}" srcOrd="8" destOrd="0" presId="urn:microsoft.com/office/officeart/2005/8/layout/cycle2"/>
    <dgm:cxn modelId="{3637F32E-C2BB-4A6C-AE7C-12B049679462}" type="presParOf" srcId="{559140CE-C5B5-4036-BF25-CA90FA18AA08}" destId="{8458BBF1-2DB1-4060-9451-64596A2AB356}" srcOrd="9" destOrd="0" presId="urn:microsoft.com/office/officeart/2005/8/layout/cycle2"/>
    <dgm:cxn modelId="{073E12FD-0552-4C4A-B8D8-6FA2EDFAE835}" type="presParOf" srcId="{8458BBF1-2DB1-4060-9451-64596A2AB356}" destId="{79DBCAC6-BAF7-4C03-B1A1-A2A375CEB513}" srcOrd="0" destOrd="0" presId="urn:microsoft.com/office/officeart/2005/8/layout/cycle2"/>
    <dgm:cxn modelId="{747236DB-F164-486E-900F-FE296675D375}" type="presParOf" srcId="{559140CE-C5B5-4036-BF25-CA90FA18AA08}" destId="{428FA88F-428D-48A1-B1E7-470C891F7A9B}" srcOrd="10" destOrd="0" presId="urn:microsoft.com/office/officeart/2005/8/layout/cycle2"/>
    <dgm:cxn modelId="{B88C4B1D-9AC4-4CA8-B06C-0750936462CF}" type="presParOf" srcId="{559140CE-C5B5-4036-BF25-CA90FA18AA08}" destId="{E34B45E5-542A-475B-BF05-21DE79A5DCCA}" srcOrd="11" destOrd="0" presId="urn:microsoft.com/office/officeart/2005/8/layout/cycle2"/>
    <dgm:cxn modelId="{A17B9B35-5571-4184-B9E9-3060DD1C1F4D}" type="presParOf" srcId="{E34B45E5-542A-475B-BF05-21DE79A5DCCA}" destId="{7856B379-9BC1-4C8E-ABF0-2DD36FD82F5B}" srcOrd="0" destOrd="0" presId="urn:microsoft.com/office/officeart/2005/8/layout/cycle2"/>
    <dgm:cxn modelId="{4DA2E988-2B7F-4A5C-8445-C2EE51DB9504}" type="presParOf" srcId="{559140CE-C5B5-4036-BF25-CA90FA18AA08}" destId="{FFCA8954-DA02-4063-84C1-35313DD1862A}" srcOrd="12" destOrd="0" presId="urn:microsoft.com/office/officeart/2005/8/layout/cycle2"/>
    <dgm:cxn modelId="{6371C055-98A1-4404-99B7-ECB061475D6D}" type="presParOf" srcId="{559140CE-C5B5-4036-BF25-CA90FA18AA08}" destId="{CBF11FAF-E87C-445B-B8FB-6FEEE32AF5A7}" srcOrd="13" destOrd="0" presId="urn:microsoft.com/office/officeart/2005/8/layout/cycle2"/>
    <dgm:cxn modelId="{489BC31E-E755-4206-AC00-409E9C536050}" type="presParOf" srcId="{CBF11FAF-E87C-445B-B8FB-6FEEE32AF5A7}" destId="{DC9005E2-C295-40D1-8895-28654FE8E510}" srcOrd="0" destOrd="0" presId="urn:microsoft.com/office/officeart/2005/8/layout/cycle2"/>
    <dgm:cxn modelId="{D211C3A2-FEC1-48B5-8676-56D8166A8639}" type="presParOf" srcId="{559140CE-C5B5-4036-BF25-CA90FA18AA08}" destId="{8D87F117-87EF-4CB5-B284-49BA45822CCB}" srcOrd="14" destOrd="0" presId="urn:microsoft.com/office/officeart/2005/8/layout/cycle2"/>
    <dgm:cxn modelId="{29234C2F-0A6F-4BD1-89C0-0E3EE4C02C9B}" type="presParOf" srcId="{559140CE-C5B5-4036-BF25-CA90FA18AA08}" destId="{B3AF0DFC-BBDD-4E9B-AECD-722B9BABF80D}" srcOrd="15" destOrd="0" presId="urn:microsoft.com/office/officeart/2005/8/layout/cycle2"/>
    <dgm:cxn modelId="{3CC8FBCF-8332-4481-926E-7544A5057F42}" type="presParOf" srcId="{B3AF0DFC-BBDD-4E9B-AECD-722B9BABF80D}" destId="{6F1C462E-5AB3-4BD5-B69B-C61B39829C09}" srcOrd="0" destOrd="0" presId="urn:microsoft.com/office/officeart/2005/8/layout/cycle2"/>
    <dgm:cxn modelId="{DEE80042-1C3C-4289-A842-B19063DEED48}" type="presParOf" srcId="{559140CE-C5B5-4036-BF25-CA90FA18AA08}" destId="{773C5330-D990-4741-B615-DACF561DFC10}" srcOrd="16" destOrd="0" presId="urn:microsoft.com/office/officeart/2005/8/layout/cycle2"/>
    <dgm:cxn modelId="{F8CA52A5-9935-4EA5-A9D1-2C73D8B79BC2}" type="presParOf" srcId="{559140CE-C5B5-4036-BF25-CA90FA18AA08}" destId="{C0DCB7B6-76E4-414A-98EF-066BB65058D5}" srcOrd="17" destOrd="0" presId="urn:microsoft.com/office/officeart/2005/8/layout/cycle2"/>
    <dgm:cxn modelId="{BDF8CCE3-43FF-4AF6-B82F-AA7E9857E9C2}" type="presParOf" srcId="{C0DCB7B6-76E4-414A-98EF-066BB65058D5}" destId="{2C9D35DD-4ACA-49B6-9957-4AD691864392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DDF585-FE57-4870-BAAB-FF34162B1F97}">
      <dsp:nvSpPr>
        <dsp:cNvPr id="0" name=""/>
        <dsp:cNvSpPr/>
      </dsp:nvSpPr>
      <dsp:spPr>
        <a:xfrm>
          <a:off x="3712848" y="202"/>
          <a:ext cx="1098869" cy="10988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 err="1"/>
            <a:t>StateGraph</a:t>
          </a:r>
          <a:r>
            <a:rPr lang="en-US" sz="1050" kern="1200" dirty="0"/>
            <a:t> Implementation - </a:t>
          </a:r>
          <a:r>
            <a:rPr lang="en-US" sz="1050" kern="1200" dirty="0" err="1"/>
            <a:t>LangGraph</a:t>
          </a:r>
          <a:r>
            <a:rPr lang="en-US" sz="1050" kern="1200" dirty="0"/>
            <a:t> orchestration</a:t>
          </a:r>
        </a:p>
      </dsp:txBody>
      <dsp:txXfrm>
        <a:off x="3873774" y="161128"/>
        <a:ext cx="777017" cy="777017"/>
      </dsp:txXfrm>
    </dsp:sp>
    <dsp:sp modelId="{7DB3A2B6-CF32-4594-94A3-61341639C29A}">
      <dsp:nvSpPr>
        <dsp:cNvPr id="0" name=""/>
        <dsp:cNvSpPr/>
      </dsp:nvSpPr>
      <dsp:spPr>
        <a:xfrm rot="1200000">
          <a:off x="4884000" y="643792"/>
          <a:ext cx="292900" cy="3708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4886650" y="702939"/>
        <a:ext cx="205030" cy="222520"/>
      </dsp:txXfrm>
    </dsp:sp>
    <dsp:sp modelId="{84F6484E-3086-4A26-8BF6-C96C1155FF10}">
      <dsp:nvSpPr>
        <dsp:cNvPr id="0" name=""/>
        <dsp:cNvSpPr/>
      </dsp:nvSpPr>
      <dsp:spPr>
        <a:xfrm>
          <a:off x="5264761" y="565052"/>
          <a:ext cx="1098869" cy="10988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Real-time Agent Live Feed - Server-Sent Events (SSE)</a:t>
          </a:r>
        </a:p>
      </dsp:txBody>
      <dsp:txXfrm>
        <a:off x="5425687" y="725978"/>
        <a:ext cx="777017" cy="777017"/>
      </dsp:txXfrm>
    </dsp:sp>
    <dsp:sp modelId="{A30E16AF-CDA8-4F09-861D-C0E09A29C98C}">
      <dsp:nvSpPr>
        <dsp:cNvPr id="0" name=""/>
        <dsp:cNvSpPr/>
      </dsp:nvSpPr>
      <dsp:spPr>
        <a:xfrm rot="3600000">
          <a:off x="6076479" y="1636999"/>
          <a:ext cx="292900" cy="3708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6098447" y="1673124"/>
        <a:ext cx="205030" cy="222520"/>
      </dsp:txXfrm>
    </dsp:sp>
    <dsp:sp modelId="{C42B2A26-3738-489A-9BB2-8CB195BA13D1}">
      <dsp:nvSpPr>
        <dsp:cNvPr id="0" name=""/>
        <dsp:cNvSpPr/>
      </dsp:nvSpPr>
      <dsp:spPr>
        <a:xfrm>
          <a:off x="6090517" y="1995303"/>
          <a:ext cx="1098869" cy="10988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OCR Capabilities - PDF and image document processing</a:t>
          </a:r>
        </a:p>
      </dsp:txBody>
      <dsp:txXfrm>
        <a:off x="6251443" y="2156229"/>
        <a:ext cx="777017" cy="777017"/>
      </dsp:txXfrm>
    </dsp:sp>
    <dsp:sp modelId="{012EE29C-8F49-4494-AF84-9D3F6AB528F6}">
      <dsp:nvSpPr>
        <dsp:cNvPr id="0" name=""/>
        <dsp:cNvSpPr/>
      </dsp:nvSpPr>
      <dsp:spPr>
        <a:xfrm rot="6000000">
          <a:off x="6351551" y="3164351"/>
          <a:ext cx="292900" cy="3708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10800000">
        <a:off x="6403115" y="3195257"/>
        <a:ext cx="205030" cy="222520"/>
      </dsp:txXfrm>
    </dsp:sp>
    <dsp:sp modelId="{0CC7C643-11AF-40CE-803C-8F1092A2D489}">
      <dsp:nvSpPr>
        <dsp:cNvPr id="0" name=""/>
        <dsp:cNvSpPr/>
      </dsp:nvSpPr>
      <dsp:spPr>
        <a:xfrm>
          <a:off x="5803735" y="3621725"/>
          <a:ext cx="1098869" cy="10988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Enhanced Due Diligence - Transaction monitoring &amp; AML</a:t>
          </a:r>
        </a:p>
      </dsp:txBody>
      <dsp:txXfrm>
        <a:off x="5964661" y="3782651"/>
        <a:ext cx="777017" cy="777017"/>
      </dsp:txXfrm>
    </dsp:sp>
    <dsp:sp modelId="{DA3AC76D-6C7B-4820-A48F-1C3694D70878}">
      <dsp:nvSpPr>
        <dsp:cNvPr id="0" name=""/>
        <dsp:cNvSpPr/>
      </dsp:nvSpPr>
      <dsp:spPr>
        <a:xfrm rot="8400000">
          <a:off x="5580505" y="4511183"/>
          <a:ext cx="292900" cy="3708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10800000">
        <a:off x="5658096" y="4557116"/>
        <a:ext cx="205030" cy="222520"/>
      </dsp:txXfrm>
    </dsp:sp>
    <dsp:sp modelId="{9A45F13D-5DCA-406B-8C49-F086B41644CF}">
      <dsp:nvSpPr>
        <dsp:cNvPr id="0" name=""/>
        <dsp:cNvSpPr/>
      </dsp:nvSpPr>
      <dsp:spPr>
        <a:xfrm>
          <a:off x="4538604" y="4683296"/>
          <a:ext cx="1098869" cy="10988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Cyclic Reasoning - Agents loop back for re-verification</a:t>
          </a:r>
        </a:p>
      </dsp:txBody>
      <dsp:txXfrm>
        <a:off x="4699530" y="4844222"/>
        <a:ext cx="777017" cy="777017"/>
      </dsp:txXfrm>
    </dsp:sp>
    <dsp:sp modelId="{8458BBF1-2DB1-4060-9451-64596A2AB356}">
      <dsp:nvSpPr>
        <dsp:cNvPr id="0" name=""/>
        <dsp:cNvSpPr/>
      </dsp:nvSpPr>
      <dsp:spPr>
        <a:xfrm rot="10800000">
          <a:off x="4124123" y="5047297"/>
          <a:ext cx="292900" cy="3708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10800000">
        <a:off x="4211993" y="5121471"/>
        <a:ext cx="205030" cy="222520"/>
      </dsp:txXfrm>
    </dsp:sp>
    <dsp:sp modelId="{428FA88F-428D-48A1-B1E7-470C891F7A9B}">
      <dsp:nvSpPr>
        <dsp:cNvPr id="0" name=""/>
        <dsp:cNvSpPr/>
      </dsp:nvSpPr>
      <dsp:spPr>
        <a:xfrm>
          <a:off x="2887092" y="4683296"/>
          <a:ext cx="1098869" cy="10988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Intelligent Conflict Resolution - Handles typos, variations</a:t>
          </a:r>
        </a:p>
      </dsp:txBody>
      <dsp:txXfrm>
        <a:off x="3048018" y="4844222"/>
        <a:ext cx="777017" cy="777017"/>
      </dsp:txXfrm>
    </dsp:sp>
    <dsp:sp modelId="{E34B45E5-542A-475B-BF05-21DE79A5DCCA}">
      <dsp:nvSpPr>
        <dsp:cNvPr id="0" name=""/>
        <dsp:cNvSpPr/>
      </dsp:nvSpPr>
      <dsp:spPr>
        <a:xfrm rot="13200000">
          <a:off x="2663862" y="4521840"/>
          <a:ext cx="292900" cy="3708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10800000">
        <a:off x="2741453" y="4624255"/>
        <a:ext cx="205030" cy="222520"/>
      </dsp:txXfrm>
    </dsp:sp>
    <dsp:sp modelId="{FFCA8954-DA02-4063-84C1-35313DD1862A}">
      <dsp:nvSpPr>
        <dsp:cNvPr id="0" name=""/>
        <dsp:cNvSpPr/>
      </dsp:nvSpPr>
      <dsp:spPr>
        <a:xfrm>
          <a:off x="1621961" y="3621725"/>
          <a:ext cx="1098869" cy="10988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Explainable AI - Complete audit trail for every decision</a:t>
          </a:r>
        </a:p>
      </dsp:txBody>
      <dsp:txXfrm>
        <a:off x="1782887" y="3782651"/>
        <a:ext cx="777017" cy="777017"/>
      </dsp:txXfrm>
    </dsp:sp>
    <dsp:sp modelId="{CBF11FAF-E87C-445B-B8FB-6FEEE32AF5A7}">
      <dsp:nvSpPr>
        <dsp:cNvPr id="0" name=""/>
        <dsp:cNvSpPr/>
      </dsp:nvSpPr>
      <dsp:spPr>
        <a:xfrm rot="15600000">
          <a:off x="1882994" y="3180678"/>
          <a:ext cx="292900" cy="3708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10800000">
        <a:off x="1934558" y="3298120"/>
        <a:ext cx="205030" cy="222520"/>
      </dsp:txXfrm>
    </dsp:sp>
    <dsp:sp modelId="{8D87F117-87EF-4CB5-B284-49BA45822CCB}">
      <dsp:nvSpPr>
        <dsp:cNvPr id="0" name=""/>
        <dsp:cNvSpPr/>
      </dsp:nvSpPr>
      <dsp:spPr>
        <a:xfrm>
          <a:off x="1335179" y="1995303"/>
          <a:ext cx="1098869" cy="10988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Dynamic Risk Scoring - Context-aware 1-10 scale</a:t>
          </a:r>
        </a:p>
      </dsp:txBody>
      <dsp:txXfrm>
        <a:off x="1496105" y="2156229"/>
        <a:ext cx="777017" cy="777017"/>
      </dsp:txXfrm>
    </dsp:sp>
    <dsp:sp modelId="{B3AF0DFC-BBDD-4E9B-AECD-722B9BABF80D}">
      <dsp:nvSpPr>
        <dsp:cNvPr id="0" name=""/>
        <dsp:cNvSpPr/>
      </dsp:nvSpPr>
      <dsp:spPr>
        <a:xfrm rot="18000000">
          <a:off x="2146897" y="1651357"/>
          <a:ext cx="292900" cy="3708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2168865" y="1763580"/>
        <a:ext cx="205030" cy="222520"/>
      </dsp:txXfrm>
    </dsp:sp>
    <dsp:sp modelId="{773C5330-D990-4741-B615-DACF561DFC10}">
      <dsp:nvSpPr>
        <dsp:cNvPr id="0" name=""/>
        <dsp:cNvSpPr/>
      </dsp:nvSpPr>
      <dsp:spPr>
        <a:xfrm>
          <a:off x="2160935" y="565052"/>
          <a:ext cx="1098869" cy="10988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Human-in-the-Loop - Automated with escalation paths</a:t>
          </a:r>
        </a:p>
      </dsp:txBody>
      <dsp:txXfrm>
        <a:off x="2321861" y="725978"/>
        <a:ext cx="777017" cy="777017"/>
      </dsp:txXfrm>
    </dsp:sp>
    <dsp:sp modelId="{C0DCB7B6-76E4-414A-98EF-066BB65058D5}">
      <dsp:nvSpPr>
        <dsp:cNvPr id="0" name=""/>
        <dsp:cNvSpPr/>
      </dsp:nvSpPr>
      <dsp:spPr>
        <a:xfrm rot="20400000">
          <a:off x="3332086" y="649463"/>
          <a:ext cx="292900" cy="3708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3334736" y="738664"/>
        <a:ext cx="205030" cy="2225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534369-51C5-4C1F-A7D0-860B5E58A96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A2C14F-FD65-44B0-A47F-8088F06B1E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730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ibm.com/Manisha-Bhattacharjee/KYC-AML-Multi-Agentic-AI-System.git" TargetMode="External"/><Relationship Id="rId2" Type="http://schemas.openxmlformats.org/officeDocument/2006/relationships/hyperlink" Target="mailto:Manisha.Bhattacharjee@ibm.com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3B84CC-4810-0953-AFEB-206B8D21F2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123" r="18289" b="-1"/>
          <a:stretch>
            <a:fillRect/>
          </a:stretch>
        </p:blipFill>
        <p:spPr>
          <a:xfrm>
            <a:off x="1891767" y="10"/>
            <a:ext cx="7252231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28650" y="365125"/>
            <a:ext cx="2866641" cy="1899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800" b="1">
                <a:solidFill>
                  <a:srgbClr val="0072CE"/>
                </a:solidFill>
              </a:defRPr>
            </a:pPr>
            <a:r>
              <a:rPr lang="en-US" sz="3500" dirty="0">
                <a:latin typeface="+mj-lt"/>
                <a:ea typeface="+mj-ea"/>
                <a:cs typeface="+mj-cs"/>
              </a:rPr>
              <a:t>KYC/AML Agentic AI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8650" y="2434201"/>
            <a:ext cx="2866641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700" dirty="0"/>
              <a:t>Multi-Agent AI for Intelligent Compliance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endParaRPr lang="en-US" sz="17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700" dirty="0"/>
              <a:t>Manisha Bhattacharjee | IBM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>
              <a:defRPr sz="3200">
                <a:solidFill>
                  <a:srgbClr val="0072CE"/>
                </a:solidFill>
              </a:defRPr>
            </a:pPr>
            <a:r>
              <a:rPr lang="en-US" sz="3500" dirty="0">
                <a:solidFill>
                  <a:srgbClr val="FFFFFF"/>
                </a:solidFill>
              </a:rPr>
              <a:t>Overview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344129"/>
            <a:ext cx="5084022" cy="6154993"/>
          </a:xfrm>
        </p:spPr>
        <p:txBody>
          <a:bodyPr anchor="ctr">
            <a:normAutofit fontScale="92500"/>
          </a:bodyPr>
          <a:lstStyle/>
          <a:p>
            <a:pPr marL="0" indent="0">
              <a:lnSpc>
                <a:spcPct val="90000"/>
              </a:lnSpc>
              <a:spcAft>
                <a:spcPts val="1200"/>
              </a:spcAft>
              <a:buNone/>
              <a:defRPr sz="1600"/>
            </a:pP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OVERVIEW</a:t>
            </a:r>
            <a:r>
              <a:rPr lang="en-US" sz="1400" b="1" dirty="0"/>
              <a:t>: </a:t>
            </a:r>
            <a:br>
              <a:rPr lang="en-US" sz="1400" b="1" u="sng" dirty="0"/>
            </a:br>
            <a:br>
              <a:rPr lang="en-US" sz="1400" b="1" u="sng" dirty="0"/>
            </a:br>
            <a:r>
              <a:rPr lang="en-US" sz="1400" dirty="0"/>
              <a:t>The KYC/AML AI Agents system is a full-stack intelligent compliance platform that uses multiple AI agents to process KYC documents and analyze transactions for anti-money laundering compliance. The system features real-time processing feedback, risk assessment, and automated decision-making with human-in-the-loop capabilities.</a:t>
            </a:r>
          </a:p>
          <a:p>
            <a:pPr marL="0" indent="0">
              <a:lnSpc>
                <a:spcPct val="90000"/>
              </a:lnSpc>
              <a:spcAft>
                <a:spcPts val="1200"/>
              </a:spcAft>
              <a:buNone/>
              <a:defRPr sz="1600"/>
            </a:pPr>
            <a:endParaRPr lang="en-US" sz="1400" b="1" u="sng" dirty="0"/>
          </a:p>
          <a:p>
            <a:pPr marL="0" indent="0">
              <a:lnSpc>
                <a:spcPct val="90000"/>
              </a:lnSpc>
              <a:spcAft>
                <a:spcPts val="1200"/>
              </a:spcAft>
              <a:buNone/>
              <a:defRPr sz="1600"/>
            </a:pP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THE</a:t>
            </a:r>
            <a:r>
              <a:rPr lang="en-US" sz="1400" b="1" dirty="0"/>
              <a:t> </a:t>
            </a: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CHALLENGE</a:t>
            </a:r>
            <a:r>
              <a:rPr lang="en-US" sz="1400" b="1" dirty="0"/>
              <a:t>: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 sz="1600"/>
            </a:pPr>
            <a:r>
              <a:rPr lang="en-US" sz="1400" dirty="0"/>
              <a:t>Manual KYC/AML processes are slow, error-prone, and costly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 sz="1600"/>
            </a:pPr>
            <a:r>
              <a:rPr lang="en-US" sz="1400" dirty="0"/>
              <a:t>Traditional automation lacks reasoning capabilities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 sz="1600"/>
            </a:pPr>
            <a:r>
              <a:rPr lang="en-US" sz="1400" dirty="0"/>
              <a:t>Compliance officers spend 70% time on verification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 sz="1600"/>
            </a:pPr>
            <a:endParaRPr lang="en-US" sz="1400" dirty="0"/>
          </a:p>
          <a:p>
            <a:pPr marL="0" indent="0">
              <a:lnSpc>
                <a:spcPct val="90000"/>
              </a:lnSpc>
              <a:spcAft>
                <a:spcPts val="1200"/>
              </a:spcAft>
              <a:buNone/>
              <a:defRPr sz="1600"/>
            </a:pP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PROPOSED</a:t>
            </a:r>
            <a:r>
              <a:rPr lang="en-US" sz="1400" b="1" dirty="0"/>
              <a:t> </a:t>
            </a: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SOLUTION</a:t>
            </a:r>
            <a:r>
              <a:rPr lang="en-US" sz="1400" b="1" dirty="0"/>
              <a:t>: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 sz="1600"/>
            </a:pPr>
            <a:r>
              <a:rPr lang="en-US" sz="1400" dirty="0"/>
              <a:t> Multi-agent AI where agents collaborate and reason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 sz="1600"/>
            </a:pPr>
            <a:r>
              <a:rPr lang="en-US" sz="1400" dirty="0"/>
              <a:t> Agents can loop back, re-verify, and escalate decisions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 sz="1600"/>
            </a:pPr>
            <a:r>
              <a:rPr lang="en-US" sz="1400" dirty="0"/>
              <a:t> Real-time processing with live agent feedback (SSE)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 sz="1600"/>
            </a:pPr>
            <a:r>
              <a:rPr lang="en-US" sz="1400" dirty="0"/>
              <a:t> Automated KYC + AML transaction monitoring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 sz="1600"/>
            </a:pPr>
            <a:r>
              <a:rPr lang="en-US" sz="1400" dirty="0"/>
              <a:t> Explainable AI with complete audit trail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 sz="1600"/>
            </a:pPr>
            <a:r>
              <a:rPr lang="en-US" sz="1400" dirty="0"/>
              <a:t> 95% reduction in processing time, 90% accuracy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645" y="884903"/>
            <a:ext cx="2674374" cy="3089449"/>
          </a:xfrm>
        </p:spPr>
        <p:txBody>
          <a:bodyPr anchor="b">
            <a:normAutofit/>
          </a:bodyPr>
          <a:lstStyle/>
          <a:p>
            <a:pPr>
              <a:defRPr sz="3200">
                <a:solidFill>
                  <a:srgbClr val="0072CE"/>
                </a:solidFill>
              </a:defRPr>
            </a:pPr>
            <a:r>
              <a:rPr lang="en-US" sz="3200" dirty="0">
                <a:solidFill>
                  <a:srgbClr val="FFFFFF"/>
                </a:solidFill>
              </a:rPr>
              <a:t>Full-Stack System Architecture</a:t>
            </a:r>
          </a:p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 lnSpcReduction="10000"/>
          </a:bodyPr>
          <a:lstStyle/>
          <a:p>
            <a:pPr marL="0" indent="0">
              <a:lnSpc>
                <a:spcPct val="90000"/>
              </a:lnSpc>
              <a:spcAft>
                <a:spcPts val="1200"/>
              </a:spcAft>
              <a:buNone/>
              <a:defRPr sz="1600"/>
            </a:pP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FRONTEND</a:t>
            </a:r>
            <a:r>
              <a:rPr lang="en-US" sz="1400" dirty="0"/>
              <a:t>: React + TypeScript + Vite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 sz="1600"/>
            </a:pPr>
            <a:r>
              <a:rPr lang="en-US" sz="1400" dirty="0"/>
              <a:t>  Document upload, real-time feed, dashboard, audit history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 sz="1600"/>
            </a:pPr>
            <a:endParaRPr lang="en-US" sz="1400" dirty="0"/>
          </a:p>
          <a:p>
            <a:pPr marL="0" indent="0">
              <a:lnSpc>
                <a:spcPct val="90000"/>
              </a:lnSpc>
              <a:spcAft>
                <a:spcPts val="1200"/>
              </a:spcAft>
              <a:buNone/>
              <a:defRPr sz="1600"/>
            </a:pP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BACKEND</a:t>
            </a:r>
            <a:r>
              <a:rPr lang="en-US" sz="1400" dirty="0"/>
              <a:t>: </a:t>
            </a:r>
            <a:r>
              <a:rPr lang="en-US" sz="1400" dirty="0" err="1"/>
              <a:t>FastAPI</a:t>
            </a:r>
            <a:r>
              <a:rPr lang="en-US" sz="1400" dirty="0"/>
              <a:t> + Python 3.11+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 sz="1600"/>
            </a:pPr>
            <a:r>
              <a:rPr lang="en-US" sz="1400" dirty="0"/>
              <a:t>  RESTful API, SSE streaming, file management, audit logging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 sz="1600"/>
            </a:pPr>
            <a:endParaRPr lang="en-US" sz="1400" dirty="0"/>
          </a:p>
          <a:p>
            <a:pPr marL="0" indent="0">
              <a:lnSpc>
                <a:spcPct val="90000"/>
              </a:lnSpc>
              <a:spcAft>
                <a:spcPts val="1200"/>
              </a:spcAft>
              <a:buNone/>
              <a:defRPr sz="1600"/>
            </a:pP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ORCHESTRATION</a:t>
            </a:r>
            <a:r>
              <a:rPr lang="en-US" sz="1400" dirty="0"/>
              <a:t>: </a:t>
            </a:r>
            <a:r>
              <a:rPr lang="en-US" sz="1400" dirty="0" err="1"/>
              <a:t>LangGraph</a:t>
            </a:r>
            <a:r>
              <a:rPr lang="en-US" sz="1400" dirty="0"/>
              <a:t> State Machine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 sz="1600"/>
            </a:pPr>
            <a:r>
              <a:rPr lang="en-US" sz="1400" dirty="0"/>
              <a:t>  Workflow coordination, multi-agent routing, state management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 sz="1600"/>
            </a:pPr>
            <a:endParaRPr lang="en-US" sz="1400" dirty="0"/>
          </a:p>
          <a:p>
            <a:pPr marL="0" indent="0">
              <a:lnSpc>
                <a:spcPct val="90000"/>
              </a:lnSpc>
              <a:spcAft>
                <a:spcPts val="1200"/>
              </a:spcAft>
              <a:buNone/>
              <a:defRPr sz="1600"/>
            </a:pP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AI AGENTS</a:t>
            </a:r>
            <a:r>
              <a:rPr lang="en-US" sz="1400" dirty="0"/>
              <a:t>: 6 LLM-Powered Specialists (Multi-Model Support)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 sz="1600"/>
            </a:pPr>
            <a:r>
              <a:rPr lang="en-US" sz="1400" dirty="0"/>
              <a:t>  Extraction, Verification, Transaction, Reasoning, Assessment, Decision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 sz="1600"/>
            </a:pPr>
            <a:endParaRPr lang="en-US" sz="1400" dirty="0"/>
          </a:p>
          <a:p>
            <a:pPr marL="0" indent="0">
              <a:lnSpc>
                <a:spcPct val="90000"/>
              </a:lnSpc>
              <a:spcAft>
                <a:spcPts val="1200"/>
              </a:spcAft>
              <a:buNone/>
              <a:defRPr sz="1600"/>
            </a:pP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DATA</a:t>
            </a:r>
            <a:r>
              <a:rPr lang="en-US" sz="1400" dirty="0"/>
              <a:t>: SQLite + Mock Databases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 sz="1600"/>
            </a:pPr>
            <a:r>
              <a:rPr lang="en-US" sz="1400" dirty="0"/>
              <a:t> Immutable Audit Trails, State Memory, &amp; Mock External DBs (Gov/PEP/Sanctions)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AD1A3F8-352D-7C90-EB44-F3CBB103BA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323" y="1111045"/>
            <a:ext cx="8957187" cy="4336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971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CD3177-BE58-9571-93B0-88B86CB62D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0295" y="643467"/>
            <a:ext cx="7403408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614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1386005"/>
            <a:ext cx="2491482" cy="2588347"/>
          </a:xfrm>
        </p:spPr>
        <p:txBody>
          <a:bodyPr anchor="b">
            <a:normAutofit/>
          </a:bodyPr>
          <a:lstStyle/>
          <a:p>
            <a:pPr>
              <a:defRPr sz="3200">
                <a:solidFill>
                  <a:srgbClr val="0072CE"/>
                </a:solidFill>
              </a:defRPr>
            </a:pPr>
            <a:r>
              <a:rPr lang="en-US" sz="3500" dirty="0">
                <a:solidFill>
                  <a:srgbClr val="FFFFFF"/>
                </a:solidFill>
              </a:rPr>
              <a:t>Multi-Agent AI Workflow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3607693" y="442452"/>
            <a:ext cx="5054525" cy="5899354"/>
          </a:xfrm>
        </p:spPr>
        <p:txBody>
          <a:bodyPr anchor="ctr">
            <a:normAutofit fontScale="92500" lnSpcReduction="10000"/>
          </a:bodyPr>
          <a:lstStyle/>
          <a:p>
            <a:pPr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600"/>
            </a:pPr>
            <a:r>
              <a:rPr sz="1400" b="1" dirty="0">
                <a:solidFill>
                  <a:schemeClr val="accent1">
                    <a:lumMod val="75000"/>
                  </a:schemeClr>
                </a:solidFill>
              </a:rPr>
              <a:t>EXTRACTION AGENT</a:t>
            </a:r>
            <a:r>
              <a:rPr sz="1400" dirty="0"/>
              <a:t> - Extracts structured data from documents</a:t>
            </a:r>
            <a:endParaRPr lang="en-US" sz="1400" dirty="0"/>
          </a:p>
          <a:p>
            <a:pPr marL="0" indent="0">
              <a:lnSpc>
                <a:spcPct val="90000"/>
              </a:lnSpc>
              <a:spcAft>
                <a:spcPts val="1200"/>
              </a:spcAft>
              <a:buNone/>
              <a:defRPr sz="1600"/>
            </a:pPr>
            <a:r>
              <a:rPr lang="en-US" sz="1400" dirty="0"/>
              <a:t>	→ Uses GPT-4o Vision for PDF/Image OCR</a:t>
            </a:r>
          </a:p>
          <a:p>
            <a:pPr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600"/>
            </a:pPr>
            <a:endParaRPr sz="1400" dirty="0"/>
          </a:p>
          <a:p>
            <a:pPr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600"/>
            </a:pPr>
            <a:r>
              <a:rPr sz="1400" b="1" dirty="0">
                <a:solidFill>
                  <a:schemeClr val="accent1">
                    <a:lumMod val="75000"/>
                  </a:schemeClr>
                </a:solidFill>
              </a:rPr>
              <a:t>VERIFICATION AGENT</a:t>
            </a:r>
            <a:r>
              <a:rPr sz="1400" b="1" dirty="0"/>
              <a:t> </a:t>
            </a:r>
            <a:r>
              <a:rPr sz="1400" dirty="0"/>
              <a:t>- Validates against multiple databases</a:t>
            </a:r>
            <a:endParaRPr lang="en-US" sz="1400" dirty="0"/>
          </a:p>
          <a:p>
            <a:pPr marL="0" indent="0">
              <a:lnSpc>
                <a:spcPct val="90000"/>
              </a:lnSpc>
              <a:spcAft>
                <a:spcPts val="1200"/>
              </a:spcAft>
              <a:buNone/>
              <a:defRPr sz="1600"/>
            </a:pPr>
            <a:r>
              <a:rPr lang="en-US" sz="1400" dirty="0"/>
              <a:t>	→ Government DB, Sanctions Lists, PEP screening</a:t>
            </a:r>
          </a:p>
          <a:p>
            <a:pPr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600"/>
            </a:pPr>
            <a:endParaRPr sz="1400" dirty="0"/>
          </a:p>
          <a:p>
            <a:pPr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600"/>
            </a:pPr>
            <a:r>
              <a:rPr sz="1400" b="1" dirty="0">
                <a:solidFill>
                  <a:schemeClr val="accent1">
                    <a:lumMod val="75000"/>
                  </a:schemeClr>
                </a:solidFill>
              </a:rPr>
              <a:t>TRANSACTION AGENT</a:t>
            </a:r>
            <a:r>
              <a:rPr sz="1400" b="1" dirty="0"/>
              <a:t> </a:t>
            </a:r>
            <a:r>
              <a:rPr sz="1400" dirty="0"/>
              <a:t>- Analyzes AML patterns (optional)</a:t>
            </a:r>
            <a:endParaRPr lang="en-US" sz="1400" dirty="0"/>
          </a:p>
          <a:p>
            <a:pPr marL="0" indent="0">
              <a:lnSpc>
                <a:spcPct val="90000"/>
              </a:lnSpc>
              <a:spcAft>
                <a:spcPts val="1200"/>
              </a:spcAft>
              <a:buNone/>
              <a:defRPr sz="1600"/>
            </a:pPr>
            <a:r>
              <a:rPr lang="en-US" sz="1400" dirty="0"/>
              <a:t>	→ Pattern detection, velocity checks, unusual activity</a:t>
            </a:r>
          </a:p>
          <a:p>
            <a:pPr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600"/>
            </a:pPr>
            <a:endParaRPr sz="1400" dirty="0"/>
          </a:p>
          <a:p>
            <a:pPr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600"/>
            </a:pPr>
            <a:r>
              <a:rPr sz="1400" b="1" dirty="0">
                <a:solidFill>
                  <a:schemeClr val="accent1">
                    <a:lumMod val="75000"/>
                  </a:schemeClr>
                </a:solidFill>
              </a:rPr>
              <a:t>REASONING AGENT</a:t>
            </a:r>
            <a:r>
              <a:rPr sz="1400" b="1" dirty="0"/>
              <a:t> </a:t>
            </a:r>
            <a:r>
              <a:rPr sz="1400" dirty="0"/>
              <a:t>- Performs logical analysis</a:t>
            </a:r>
          </a:p>
          <a:p>
            <a:pPr marL="0" indent="0">
              <a:lnSpc>
                <a:spcPct val="90000"/>
              </a:lnSpc>
              <a:spcAft>
                <a:spcPts val="1200"/>
              </a:spcAft>
              <a:buNone/>
              <a:defRPr sz="1600"/>
            </a:pPr>
            <a:r>
              <a:rPr lang="en-US" sz="1400" dirty="0"/>
              <a:t>	</a:t>
            </a:r>
            <a:r>
              <a:rPr sz="1400" dirty="0"/>
              <a:t>→ Identifies inconsistencies, patterns, relationships</a:t>
            </a:r>
          </a:p>
          <a:p>
            <a:pPr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600"/>
            </a:pPr>
            <a:endParaRPr sz="1400" dirty="0"/>
          </a:p>
          <a:p>
            <a:pPr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600"/>
            </a:pPr>
            <a:r>
              <a:rPr sz="1400" b="1" dirty="0">
                <a:solidFill>
                  <a:schemeClr val="accent1">
                    <a:lumMod val="75000"/>
                  </a:schemeClr>
                </a:solidFill>
              </a:rPr>
              <a:t>ASSESSMENT AGENT</a:t>
            </a:r>
            <a:r>
              <a:rPr sz="1400" b="1" dirty="0"/>
              <a:t> </a:t>
            </a:r>
            <a:r>
              <a:rPr sz="1400" dirty="0"/>
              <a:t>- Calculates risk scores (1-10)</a:t>
            </a:r>
            <a:endParaRPr lang="en-US" sz="1400" dirty="0"/>
          </a:p>
          <a:p>
            <a:pPr marL="0" indent="0">
              <a:lnSpc>
                <a:spcPct val="90000"/>
              </a:lnSpc>
              <a:spcAft>
                <a:spcPts val="1200"/>
              </a:spcAft>
              <a:buNone/>
              <a:defRPr sz="1600"/>
            </a:pPr>
            <a:r>
              <a:rPr lang="en-US" sz="1400" dirty="0"/>
              <a:t>	→ Categories: LOW, MEDIUM, HIGH, CRITICAL</a:t>
            </a:r>
          </a:p>
          <a:p>
            <a:pPr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600"/>
            </a:pPr>
            <a:endParaRPr sz="1400" dirty="0"/>
          </a:p>
          <a:p>
            <a:pPr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600"/>
            </a:pPr>
            <a:r>
              <a:rPr sz="1400" b="1" dirty="0">
                <a:solidFill>
                  <a:schemeClr val="accent1">
                    <a:lumMod val="75000"/>
                  </a:schemeClr>
                </a:solidFill>
              </a:rPr>
              <a:t>DECISION AGENT</a:t>
            </a:r>
            <a:r>
              <a:rPr sz="1400" b="1" dirty="0"/>
              <a:t> </a:t>
            </a:r>
            <a:r>
              <a:rPr sz="1400" dirty="0"/>
              <a:t>- Makes final decision</a:t>
            </a:r>
            <a:endParaRPr lang="en-US" sz="1400" dirty="0"/>
          </a:p>
          <a:p>
            <a:pPr marL="0" indent="0">
              <a:lnSpc>
                <a:spcPct val="90000"/>
              </a:lnSpc>
              <a:spcAft>
                <a:spcPts val="1200"/>
              </a:spcAft>
              <a:buNone/>
              <a:defRPr sz="1600"/>
            </a:pPr>
            <a:r>
              <a:rPr lang="en-US" sz="1400" dirty="0"/>
              <a:t>	→ APPROVE, REJECT, or ESCALATE to human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>
              <a:defRPr sz="3200">
                <a:solidFill>
                  <a:srgbClr val="0072CE"/>
                </a:solidFill>
              </a:defRPr>
            </a:pPr>
            <a:r>
              <a:rPr lang="en-US" sz="3200" dirty="0"/>
              <a:t>Key Features &amp; Capabilities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02FA764-6C13-6171-F02B-16D3708602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5728802"/>
              </p:ext>
            </p:extLst>
          </p:nvPr>
        </p:nvGraphicFramePr>
        <p:xfrm>
          <a:off x="344129" y="934064"/>
          <a:ext cx="8524567" cy="5782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>
              <a:defRPr sz="3200">
                <a:solidFill>
                  <a:srgbClr val="0072CE"/>
                </a:solidFill>
              </a:defRPr>
            </a:pPr>
            <a:r>
              <a:rPr lang="en-US" sz="3500" dirty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3" y="137653"/>
            <a:ext cx="5186265" cy="6548282"/>
          </a:xfrm>
        </p:spPr>
        <p:txBody>
          <a:bodyPr anchor="ctr">
            <a:normAutofit lnSpcReduction="10000"/>
          </a:bodyPr>
          <a:lstStyle/>
          <a:p>
            <a:pPr>
              <a:lnSpc>
                <a:spcPct val="90000"/>
              </a:lnSpc>
            </a:pPr>
            <a:endParaRPr lang="en-US" sz="1200" dirty="0"/>
          </a:p>
          <a:p>
            <a:pPr marL="0" indent="0">
              <a:lnSpc>
                <a:spcPct val="90000"/>
              </a:lnSpc>
              <a:spcAft>
                <a:spcPts val="1200"/>
              </a:spcAft>
              <a:buNone/>
              <a:defRPr sz="1600"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FRONTEND TECHNOLOGIES: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 sz="1600"/>
            </a:pPr>
            <a:r>
              <a:rPr lang="en-US" sz="1200" dirty="0"/>
              <a:t>React 18.3.1, TypeScript 5.6.2, Vite 6.0.1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 sz="1600"/>
            </a:pPr>
            <a:r>
              <a:rPr lang="en-US" sz="1200" dirty="0"/>
              <a:t>Tailwind CSS 3.4.17, Axios 1.7.9, </a:t>
            </a:r>
            <a:r>
              <a:rPr lang="en-US" sz="1200" dirty="0" err="1"/>
              <a:t>EventSource</a:t>
            </a:r>
            <a:r>
              <a:rPr lang="en-US" sz="1200" dirty="0"/>
              <a:t> (SSE)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 sz="1600"/>
            </a:pPr>
            <a:endParaRPr lang="en-US" sz="1200" dirty="0"/>
          </a:p>
          <a:p>
            <a:pPr marL="0" indent="0">
              <a:lnSpc>
                <a:spcPct val="90000"/>
              </a:lnSpc>
              <a:spcAft>
                <a:spcPts val="1200"/>
              </a:spcAft>
              <a:buNone/>
              <a:defRPr sz="1600"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BACKEND TECHNOLOGIES: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 sz="1600"/>
            </a:pPr>
            <a:r>
              <a:rPr lang="sv-SE" sz="1200" dirty="0"/>
              <a:t>FastAPI (Python 3.11+), Uvicorn (ASGI)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 sz="1600"/>
            </a:pPr>
            <a:r>
              <a:rPr lang="en-US" sz="1200" dirty="0" err="1"/>
              <a:t>SQLAlchemy</a:t>
            </a:r>
            <a:r>
              <a:rPr lang="en-US" sz="1200" dirty="0"/>
              <a:t>, SQLite (Immutable Audit Trails)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 sz="1600"/>
            </a:pPr>
            <a:r>
              <a:rPr lang="en-US" sz="1200" dirty="0" err="1"/>
              <a:t>Pydantic</a:t>
            </a:r>
            <a:r>
              <a:rPr lang="en-US" sz="1200" dirty="0"/>
              <a:t> validation, Asynchronous SSE Streaming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 sz="1600"/>
            </a:pPr>
            <a:r>
              <a:rPr lang="en-US" sz="1200" dirty="0" err="1"/>
              <a:t>Loguru</a:t>
            </a:r>
            <a:r>
              <a:rPr lang="en-US" sz="1200" dirty="0"/>
              <a:t> logging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 sz="1600"/>
            </a:pPr>
            <a:endParaRPr lang="en-US" sz="1200" dirty="0"/>
          </a:p>
          <a:p>
            <a:pPr marL="0" indent="0">
              <a:lnSpc>
                <a:spcPct val="90000"/>
              </a:lnSpc>
              <a:spcAft>
                <a:spcPts val="1200"/>
              </a:spcAft>
              <a:buNone/>
              <a:defRPr sz="1600"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AI/ML TECHNOLOGIES: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 sz="1600"/>
            </a:pPr>
            <a:r>
              <a:rPr lang="en-US" sz="1200" dirty="0"/>
              <a:t>Multi-Provider LLMs: OpenAI GPT-4o &amp; Anthropic Claude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 sz="1600"/>
            </a:pPr>
            <a:r>
              <a:rPr lang="fr-FR" sz="1200" dirty="0" err="1"/>
              <a:t>LangGraph</a:t>
            </a:r>
            <a:r>
              <a:rPr lang="fr-FR" sz="1200" dirty="0"/>
              <a:t> (Agent Orchestration) &amp; </a:t>
            </a:r>
            <a:r>
              <a:rPr lang="fr-FR" sz="1200" dirty="0" err="1"/>
              <a:t>LangChain</a:t>
            </a:r>
            <a:r>
              <a:rPr lang="fr-FR" sz="1200" dirty="0"/>
              <a:t> (</a:t>
            </a:r>
            <a:r>
              <a:rPr lang="fr-FR" sz="1200" dirty="0" err="1"/>
              <a:t>Core</a:t>
            </a:r>
            <a:r>
              <a:rPr lang="fr-FR" sz="1200" dirty="0"/>
              <a:t> AI Framework)</a:t>
            </a:r>
            <a:endParaRPr lang="en-US" sz="1200" dirty="0"/>
          </a:p>
          <a:p>
            <a:pPr>
              <a:lnSpc>
                <a:spcPct val="90000"/>
              </a:lnSpc>
              <a:spcAft>
                <a:spcPts val="1200"/>
              </a:spcAft>
              <a:defRPr sz="1600"/>
            </a:pPr>
            <a:r>
              <a:rPr lang="en-US" sz="1200" dirty="0" err="1"/>
              <a:t>PyMuPDF</a:t>
            </a:r>
            <a:r>
              <a:rPr lang="en-US" sz="1200" dirty="0"/>
              <a:t> (PDF processing), Pillow (Images)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 sz="1600"/>
            </a:pPr>
            <a:r>
              <a:rPr lang="en-US" sz="1200" dirty="0"/>
              <a:t>Pandas (Financial Transaction Analysis)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 sz="1600"/>
            </a:pPr>
            <a:endParaRPr lang="en-US" sz="1200" dirty="0"/>
          </a:p>
          <a:p>
            <a:pPr marL="0" indent="0">
              <a:lnSpc>
                <a:spcPct val="90000"/>
              </a:lnSpc>
              <a:spcAft>
                <a:spcPts val="1200"/>
              </a:spcAft>
              <a:buNone/>
              <a:defRPr sz="1600"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ARCHITECTURE PATTERNS: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 sz="1600"/>
            </a:pPr>
            <a:r>
              <a:rPr lang="en-US" sz="1200" dirty="0"/>
              <a:t>Multi-agent orchestration &amp; State machine workflow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 sz="1600"/>
            </a:pPr>
            <a:r>
              <a:rPr lang="en-US" sz="1200" dirty="0"/>
              <a:t>Repository pattern, Adapter pattern, Event-driven streaming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>
              <a:defRPr sz="3200">
                <a:solidFill>
                  <a:srgbClr val="0072CE"/>
                </a:solidFill>
              </a:defRPr>
            </a:pPr>
            <a:r>
              <a:rPr lang="en-US" sz="3500" dirty="0">
                <a:solidFill>
                  <a:srgbClr val="FFFFFF"/>
                </a:solidFill>
              </a:rPr>
              <a:t>Results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294968"/>
            <a:ext cx="4916510" cy="613533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US" sz="1200" dirty="0"/>
          </a:p>
          <a:p>
            <a:pPr marL="0" indent="0">
              <a:lnSpc>
                <a:spcPct val="90000"/>
              </a:lnSpc>
              <a:spcAft>
                <a:spcPts val="1200"/>
              </a:spcAft>
              <a:buNone/>
              <a:defRPr sz="1600"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BUSINESS IMPACT: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 sz="1600"/>
            </a:pPr>
            <a:r>
              <a:rPr lang="en-US" sz="1200" dirty="0"/>
              <a:t> 95% reduction in KYC processing time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 sz="1600"/>
            </a:pPr>
            <a:r>
              <a:rPr lang="en-US" sz="1200" dirty="0"/>
              <a:t> 90% accuracy in identity verification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 sz="1600"/>
            </a:pPr>
            <a:r>
              <a:rPr lang="en-US" sz="1200" dirty="0"/>
              <a:t> 80% reduction in false positives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 sz="1600"/>
            </a:pPr>
            <a:r>
              <a:rPr lang="en-US" sz="1200" dirty="0"/>
              <a:t> Automated AML transaction monitoring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 sz="1600"/>
            </a:pPr>
            <a:endParaRPr lang="en-US" sz="1200" dirty="0"/>
          </a:p>
          <a:p>
            <a:pPr marL="0" indent="0">
              <a:lnSpc>
                <a:spcPct val="90000"/>
              </a:lnSpc>
              <a:spcAft>
                <a:spcPts val="1200"/>
              </a:spcAft>
              <a:buNone/>
              <a:defRPr sz="1600"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TECHNICAL ACHIEVEMENTS: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 sz="1600"/>
            </a:pPr>
            <a:r>
              <a:rPr lang="en-US" sz="1200" dirty="0"/>
              <a:t> True agentic AI with reasoning loops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 sz="1600"/>
            </a:pPr>
            <a:r>
              <a:rPr lang="en-US" sz="1200" dirty="0"/>
              <a:t> Real-time processing with live feedback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 sz="1600"/>
            </a:pPr>
            <a:r>
              <a:rPr lang="en-US" sz="1200" dirty="0"/>
              <a:t> Scalable full-stack architecture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 sz="1600"/>
            </a:pPr>
            <a:r>
              <a:rPr lang="en-US" sz="1200" dirty="0"/>
              <a:t> Production-ready with audit compliance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 sz="1600"/>
            </a:pPr>
            <a:endParaRPr lang="en-US" sz="1200" dirty="0"/>
          </a:p>
          <a:p>
            <a:pPr marL="0" indent="0">
              <a:lnSpc>
                <a:spcPct val="90000"/>
              </a:lnSpc>
              <a:spcAft>
                <a:spcPts val="1200"/>
              </a:spcAft>
              <a:buNone/>
              <a:defRPr sz="1600"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COMPLIANCE &amp; SECURITY: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 sz="1600"/>
            </a:pPr>
            <a:r>
              <a:rPr lang="en-US" sz="1200" dirty="0"/>
              <a:t> Complete audit trail for regulatory compliance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 sz="1600"/>
            </a:pPr>
            <a:r>
              <a:rPr lang="en-US" sz="1200" dirty="0"/>
              <a:t> Explainable AI decisions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 sz="1600"/>
            </a:pPr>
            <a:r>
              <a:rPr lang="en-US" sz="1200" dirty="0"/>
              <a:t> PII handling best practices (Zero Data Retention)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 sz="1600"/>
            </a:pPr>
            <a:r>
              <a:rPr lang="en-US" sz="1200" dirty="0"/>
              <a:t> Multi-source verification for accuracy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2BA518-FE57-804D-7F65-0D5D879D6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692" y="786869"/>
            <a:ext cx="3827858" cy="569696"/>
          </a:xfrm>
        </p:spPr>
        <p:txBody>
          <a:bodyPr anchor="b">
            <a:normAutofit fontScale="90000"/>
          </a:bodyPr>
          <a:lstStyle/>
          <a:p>
            <a:r>
              <a:rPr lang="en-US" sz="3500" dirty="0">
                <a:solidFill>
                  <a:schemeClr val="accent1">
                    <a:lumMod val="75000"/>
                  </a:schemeClr>
                </a:solidFill>
              </a:rPr>
              <a:t>Team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17F5E-1FEE-DD65-6261-03345C2A8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692" y="2405894"/>
            <a:ext cx="3986392" cy="3535083"/>
          </a:xfrm>
        </p:spPr>
        <p:txBody>
          <a:bodyPr anchor="t">
            <a:normAutofit/>
          </a:bodyPr>
          <a:lstStyle/>
          <a:p>
            <a:pPr marL="0" indent="0" fontAlgn="base">
              <a:buNone/>
            </a:pPr>
            <a:r>
              <a:rPr lang="en-US" sz="1700" b="1" dirty="0"/>
              <a:t>Team Members:</a:t>
            </a:r>
            <a:r>
              <a:rPr lang="en-US" sz="1700" dirty="0"/>
              <a:t> ​</a:t>
            </a:r>
          </a:p>
          <a:p>
            <a:pPr fontAlgn="base"/>
            <a:r>
              <a:rPr lang="en-US" sz="1700" dirty="0"/>
              <a:t>Manisha Bhattacharjee</a:t>
            </a:r>
          </a:p>
          <a:p>
            <a:pPr fontAlgn="base"/>
            <a:r>
              <a:rPr lang="en-US" sz="1700" u="sng" dirty="0">
                <a:hlinkClick r:id="rId2"/>
              </a:rPr>
              <a:t>Manisha.Bhattacharjee@ibm.com</a:t>
            </a:r>
            <a:endParaRPr lang="en-US" sz="1700" dirty="0"/>
          </a:p>
          <a:p>
            <a:pPr marL="0" indent="0" fontAlgn="base">
              <a:buNone/>
            </a:pPr>
            <a:r>
              <a:rPr lang="en-US" sz="1700" dirty="0"/>
              <a:t>​</a:t>
            </a:r>
          </a:p>
          <a:p>
            <a:pPr marL="0" indent="0" fontAlgn="base">
              <a:buNone/>
            </a:pPr>
            <a:r>
              <a:rPr lang="en-US" sz="1700" b="1" dirty="0"/>
              <a:t>GitHub Repository:</a:t>
            </a:r>
            <a:r>
              <a:rPr lang="en-US" sz="1700" dirty="0"/>
              <a:t> ​</a:t>
            </a:r>
          </a:p>
          <a:p>
            <a:pPr fontAlgn="base"/>
            <a:r>
              <a:rPr lang="en-US" sz="1700" b="1" dirty="0"/>
              <a:t>🔗</a:t>
            </a:r>
            <a:r>
              <a:rPr lang="en-US" sz="1700" b="1" dirty="0">
                <a:hlinkClick r:id="rId3"/>
              </a:rPr>
              <a:t>https://github.ibm.com/Manisha-Bhattacharjee/KYC-AML-Multi-Agentic-AI-System.git</a:t>
            </a:r>
            <a:endParaRPr lang="en-US" sz="1700" b="1" dirty="0"/>
          </a:p>
          <a:p>
            <a:pPr fontAlgn="base"/>
            <a:endParaRPr lang="en-US" sz="1700" dirty="0"/>
          </a:p>
          <a:p>
            <a:endParaRPr lang="en-US" sz="17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5"/>
            <a:ext cx="306939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"/>
            <a:ext cx="306939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2"/>
            <a:ext cx="3051501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10"/>
            <a:ext cx="2708601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6" descr="User">
            <a:extLst>
              <a:ext uri="{FF2B5EF4-FFF2-40B4-BE49-F238E27FC236}">
                <a16:creationId xmlns:a16="http://schemas.microsoft.com/office/drawing/2014/main" id="{C01D93CF-E1AA-8491-8C52-0E1C7285F7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06975" y="1880998"/>
            <a:ext cx="3127897" cy="3127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282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04749C9-A0CC-6FA6-0161-FC181FF0D1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370" r="5629" b="-2"/>
          <a:stretch>
            <a:fillRect/>
          </a:stretch>
        </p:blipFill>
        <p:spPr>
          <a:xfrm>
            <a:off x="20" y="1"/>
            <a:ext cx="9143979" cy="6858000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51935DB0-36D0-5C2E-7342-262D35382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55514" y="2344729"/>
            <a:ext cx="6861971" cy="2164578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42000">
                <a:schemeClr val="accent5">
                  <a:lumMod val="60000"/>
                  <a:lumOff val="40000"/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3D31893-BB06-4F90-7CCA-0A7A2694F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943039" y="2647828"/>
            <a:ext cx="6858001" cy="1567013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64000">
                <a:schemeClr val="accent2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F8ABF93-7FE7-6D3B-6AD7-C3921745C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133413" y="2763688"/>
            <a:ext cx="3022133" cy="4096646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4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3C4FB21-0C2C-3F62-3EC5-DD378DBD3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88220" y="-2595037"/>
            <a:ext cx="3140765" cy="8330843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accent5">
                  <a:lumMod val="60000"/>
                  <a:lumOff val="40000"/>
                  <a:alpha val="0"/>
                </a:scheme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92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668</Words>
  <Application>Microsoft Office PowerPoint</Application>
  <PresentationFormat>On-screen Show (4:3)</PresentationFormat>
  <Paragraphs>109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Overview &amp; Problem Statement</vt:lpstr>
      <vt:lpstr>Full-Stack System Architecture</vt:lpstr>
      <vt:lpstr>PowerPoint Presentation</vt:lpstr>
      <vt:lpstr>PowerPoint Presentation</vt:lpstr>
      <vt:lpstr>Multi-Agent AI Workflow</vt:lpstr>
      <vt:lpstr>Key Features &amp; Capabilities</vt:lpstr>
      <vt:lpstr>Technology Stack</vt:lpstr>
      <vt:lpstr>Results &amp; Impact</vt:lpstr>
      <vt:lpstr>Team Details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Manisha Bhattacharjee</cp:lastModifiedBy>
  <cp:revision>70</cp:revision>
  <dcterms:created xsi:type="dcterms:W3CDTF">2013-01-27T09:14:16Z</dcterms:created>
  <dcterms:modified xsi:type="dcterms:W3CDTF">2026-03-31T14:09:06Z</dcterms:modified>
  <cp:category/>
</cp:coreProperties>
</file>